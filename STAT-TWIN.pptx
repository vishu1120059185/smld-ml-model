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ambria Bold" charset="1" panose="02040803050406030204"/>
      <p:regular r:id="rId19"/>
    </p:embeddedFont>
    <p:embeddedFont>
      <p:font typeface="Calibri (MS) Bold" charset="1" panose="020F0702030404030204"/>
      <p:regular r:id="rId20"/>
    </p:embeddedFont>
    <p:embeddedFont>
      <p:font typeface="Calibri (MS)" charset="1" panose="020F0502020204030204"/>
      <p:regular r:id="rId21"/>
    </p:embeddedFont>
    <p:embeddedFont>
      <p:font typeface="Calibri (MS) Italics" charset="1" panose="020F05020202040A0204"/>
      <p:regular r:id="rId22"/>
    </p:embeddedFont>
    <p:embeddedFont>
      <p:font typeface="Courier New Italics" charset="1" panose="02070409020205090404"/>
      <p:regular r:id="rId29"/>
    </p:embeddedFont>
    <p:embeddedFont>
      <p:font typeface="Courier New" charset="1" panose="020703090202050204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notesMasters/notesMaster1.xml" Type="http://schemas.openxmlformats.org/officeDocument/2006/relationships/notesMaster"/><Relationship Id="rId17" Target="theme/theme2.xml" Type="http://schemas.openxmlformats.org/officeDocument/2006/relationships/theme"/><Relationship Id="rId18" Target="notesSlides/notesSlide1.xml" Type="http://schemas.openxmlformats.org/officeDocument/2006/relationships/notes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notesSlides/notesSlide2.xml" Type="http://schemas.openxmlformats.org/officeDocument/2006/relationships/notesSlide"/><Relationship Id="rId24" Target="notesSlides/notesSlide3.xml" Type="http://schemas.openxmlformats.org/officeDocument/2006/relationships/notesSlide"/><Relationship Id="rId25" Target="notesSlides/notesSlide4.xml" Type="http://schemas.openxmlformats.org/officeDocument/2006/relationships/notesSlide"/><Relationship Id="rId26" Target="notesSlides/notesSlide5.xml" Type="http://schemas.openxmlformats.org/officeDocument/2006/relationships/notesSlide"/><Relationship Id="rId27" Target="notesSlides/notesSlide6.xml" Type="http://schemas.openxmlformats.org/officeDocument/2006/relationships/notesSlide"/><Relationship Id="rId28" Target="notesSlides/notesSlide7.xml" Type="http://schemas.openxmlformats.org/officeDocument/2006/relationships/notesSlide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notesSlides/notesSlide8.xml" Type="http://schemas.openxmlformats.org/officeDocument/2006/relationships/notesSlide"/><Relationship Id="rId32" Target="notesSlides/notesSlide9.xml" Type="http://schemas.openxmlformats.org/officeDocument/2006/relationships/notesSlide"/><Relationship Id="rId33" Target="notesSlides/notesSlide10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Relationship Id="rId4" Target="https://github.com/vishu1120059185/SMLD-ML-MODEL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A0E17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08760" y="1371600"/>
            <a:ext cx="123444" cy="123444"/>
            <a:chOff x="0" y="0"/>
            <a:chExt cx="164592" cy="1645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3154680" y="2743200"/>
            <a:ext cx="123444" cy="123444"/>
            <a:chOff x="0" y="0"/>
            <a:chExt cx="164592" cy="16459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97280" y="4937760"/>
            <a:ext cx="123444" cy="123444"/>
            <a:chOff x="0" y="0"/>
            <a:chExt cx="164592" cy="16459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606040" y="7132320"/>
            <a:ext cx="123444" cy="123444"/>
            <a:chOff x="0" y="0"/>
            <a:chExt cx="164592" cy="1645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4663440" y="1234440"/>
            <a:ext cx="123444" cy="123444"/>
            <a:chOff x="0" y="0"/>
            <a:chExt cx="164592" cy="16459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4251960" y="6035040"/>
            <a:ext cx="123444" cy="123444"/>
            <a:chOff x="0" y="0"/>
            <a:chExt cx="164592" cy="16459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459200" y="1508760"/>
            <a:ext cx="123444" cy="123444"/>
            <a:chOff x="0" y="0"/>
            <a:chExt cx="164592" cy="16459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5361920" y="3566160"/>
            <a:ext cx="123444" cy="123444"/>
            <a:chOff x="0" y="0"/>
            <a:chExt cx="164592" cy="16459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7007840" y="5486400"/>
            <a:ext cx="123444" cy="123444"/>
            <a:chOff x="0" y="0"/>
            <a:chExt cx="164592" cy="16459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4813280" y="7680960"/>
            <a:ext cx="123444" cy="123444"/>
            <a:chOff x="0" y="0"/>
            <a:chExt cx="164592" cy="16459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6459200" y="8778240"/>
            <a:ext cx="123444" cy="123444"/>
            <a:chOff x="0" y="0"/>
            <a:chExt cx="164592" cy="16459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3566160" y="9052560"/>
            <a:ext cx="123444" cy="123444"/>
            <a:chOff x="0" y="0"/>
            <a:chExt cx="164592" cy="16459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64592" cy="164592"/>
            </a:xfrm>
            <a:custGeom>
              <a:avLst/>
              <a:gdLst/>
              <a:ahLst/>
              <a:cxnLst/>
              <a:rect r="r" b="b" t="t" l="l"/>
              <a:pathLst>
                <a:path h="164592" w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34440" y="1028700"/>
            <a:ext cx="850392" cy="850392"/>
            <a:chOff x="0" y="0"/>
            <a:chExt cx="1133856" cy="113385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566928"/>
                  </a:moveTo>
                  <a:cubicBezTo>
                    <a:pt x="0" y="253873"/>
                    <a:pt x="253873" y="0"/>
                    <a:pt x="566928" y="0"/>
                  </a:cubicBezTo>
                  <a:cubicBezTo>
                    <a:pt x="879983" y="0"/>
                    <a:pt x="1133856" y="253873"/>
                    <a:pt x="1133856" y="566928"/>
                  </a:cubicBezTo>
                  <a:cubicBezTo>
                    <a:pt x="1133856" y="879983"/>
                    <a:pt x="879983" y="1133856"/>
                    <a:pt x="566928" y="1133856"/>
                  </a:cubicBezTo>
                  <a:cubicBezTo>
                    <a:pt x="253873" y="1133856"/>
                    <a:pt x="0" y="879983"/>
                    <a:pt x="0" y="566928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34440" y="1028700"/>
            <a:ext cx="850392" cy="850392"/>
            <a:chOff x="0" y="0"/>
            <a:chExt cx="1133856" cy="113385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33856" cy="1133856"/>
            </a:xfrm>
            <a:custGeom>
              <a:avLst/>
              <a:gdLst/>
              <a:ahLst/>
              <a:cxnLst/>
              <a:rect r="r" b="b" t="t" l="l"/>
              <a:pathLst>
                <a:path h="1133856" w="1133856">
                  <a:moveTo>
                    <a:pt x="0" y="0"/>
                  </a:moveTo>
                  <a:lnTo>
                    <a:pt x="1133856" y="0"/>
                  </a:lnTo>
                  <a:lnTo>
                    <a:pt x="1133856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1133856" cy="11433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ST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97280" y="2194560"/>
            <a:ext cx="15773400" cy="548640"/>
            <a:chOff x="0" y="0"/>
            <a:chExt cx="21031200" cy="73152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031200" cy="731520"/>
            </a:xfrm>
            <a:custGeom>
              <a:avLst/>
              <a:gdLst/>
              <a:ahLst/>
              <a:cxnLst/>
              <a:rect r="r" b="b" t="t" l="l"/>
              <a:pathLst>
                <a:path h="73152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0194" r="0" b="-510194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2103120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450">
                  <a:solidFill>
                    <a:srgbClr val="F5A62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STATISTICAL DIGITAL TWIN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097280" y="2752725"/>
            <a:ext cx="15773400" cy="1783080"/>
            <a:chOff x="0" y="0"/>
            <a:chExt cx="21031200" cy="23774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1031200" cy="2377440"/>
            </a:xfrm>
            <a:custGeom>
              <a:avLst/>
              <a:gdLst/>
              <a:ahLst/>
              <a:cxnLst/>
              <a:rect r="r" b="b" t="t" l="l"/>
              <a:pathLst>
                <a:path h="237744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2367" r="0" b="-12236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21031200" cy="23964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0800"/>
                </a:lnSpc>
              </a:pPr>
              <a:r>
                <a:rPr lang="en-US" sz="9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STAT-TWIN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234440" y="4850130"/>
            <a:ext cx="14813280" cy="822960"/>
            <a:chOff x="0" y="0"/>
            <a:chExt cx="19751040" cy="10972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9751039" cy="1097280"/>
            </a:xfrm>
            <a:custGeom>
              <a:avLst/>
              <a:gdLst/>
              <a:ahLst/>
              <a:cxnLst/>
              <a:rect r="r" b="b" t="t" l="l"/>
              <a:pathLst>
                <a:path h="109728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730" r="0" b="-30073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66675"/>
              <a:ext cx="19751040" cy="11639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>
                  <a:solidFill>
                    <a:srgbClr val="C7D2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Probabilistic Failure Forecasting &amp; Predictive Maintenance</a:t>
              </a:r>
            </a:p>
          </p:txBody>
        </p:sp>
      </p:grpSp>
      <p:sp>
        <p:nvSpPr>
          <p:cNvPr name="AutoShape 42" id="42"/>
          <p:cNvSpPr/>
          <p:nvPr/>
        </p:nvSpPr>
        <p:spPr>
          <a:xfrm>
            <a:off x="1234527" y="6044565"/>
            <a:ext cx="4152896" cy="38126"/>
          </a:xfrm>
          <a:prstGeom prst="line">
            <a:avLst/>
          </a:prstGeom>
          <a:ln cap="rnd" w="19050">
            <a:solidFill>
              <a:srgbClr val="1C729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3" id="43"/>
          <p:cNvGrpSpPr/>
          <p:nvPr/>
        </p:nvGrpSpPr>
        <p:grpSpPr>
          <a:xfrm rot="0">
            <a:off x="1234440" y="6446520"/>
            <a:ext cx="16024860" cy="1234440"/>
            <a:chOff x="0" y="0"/>
            <a:chExt cx="21366480" cy="164592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1366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1366480">
                  <a:moveTo>
                    <a:pt x="0" y="0"/>
                  </a:moveTo>
                  <a:lnTo>
                    <a:pt x="21366480" y="0"/>
                  </a:lnTo>
                  <a:lnTo>
                    <a:pt x="21366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7840" r="17831" b="-15784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21366480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09"/>
                </a:lnSpc>
              </a:pPr>
              <a:r>
                <a:rPr lang="en-US" sz="2424" i="true">
                  <a:solidFill>
                    <a:srgbClr val="9FB0B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 research platform that doesn't just predict a failure — it shows the evidence, states its confidence, and tests its own claims.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234440" y="9258300"/>
            <a:ext cx="10972800" cy="480060"/>
            <a:chOff x="0" y="0"/>
            <a:chExt cx="14630400" cy="64008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146304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59"/>
                </a:lnSpc>
              </a:pPr>
              <a:r>
                <a:rPr lang="en-US" sz="2049">
                  <a:solidFill>
                    <a:srgbClr val="6E7B8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Built on NASA C-MAPSS turbofan degradation data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220724" y="7742682"/>
            <a:ext cx="14813280" cy="822960"/>
            <a:chOff x="0" y="0"/>
            <a:chExt cx="19751040" cy="109728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9751039" cy="1097280"/>
            </a:xfrm>
            <a:custGeom>
              <a:avLst/>
              <a:gdLst/>
              <a:ahLst/>
              <a:cxnLst/>
              <a:rect r="r" b="b" t="t" l="l"/>
              <a:pathLst>
                <a:path h="109728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730" r="0" b="-30073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66675"/>
              <a:ext cx="19751040" cy="11639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600"/>
                </a:lnSpc>
              </a:pPr>
              <a:r>
                <a:rPr lang="en-US" sz="3000">
                  <a:solidFill>
                    <a:srgbClr val="C7D2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Vishwesh Penkar - 44 &amp; Daksh Patil - 32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234527" y="8455914"/>
            <a:ext cx="16024860" cy="768096"/>
            <a:chOff x="0" y="0"/>
            <a:chExt cx="21366480" cy="102412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1366480" cy="1024128"/>
            </a:xfrm>
            <a:custGeom>
              <a:avLst/>
              <a:gdLst/>
              <a:ahLst/>
              <a:cxnLst/>
              <a:rect r="r" b="b" t="t" l="l"/>
              <a:pathLst>
                <a:path h="1024128" w="21366480">
                  <a:moveTo>
                    <a:pt x="0" y="0"/>
                  </a:moveTo>
                  <a:lnTo>
                    <a:pt x="21366480" y="0"/>
                  </a:lnTo>
                  <a:lnTo>
                    <a:pt x="213664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3672" r="17831" b="-314386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47625"/>
              <a:ext cx="21366480" cy="1071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09"/>
                </a:lnSpc>
              </a:pPr>
              <a:r>
                <a:rPr lang="en-US" sz="2424" i="true">
                  <a:solidFill>
                    <a:srgbClr val="9FB0B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Guided by Rashmi Saratkar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617220"/>
            <a:ext cx="10972800" cy="822960"/>
            <a:chOff x="0" y="0"/>
            <a:chExt cx="14630400" cy="10972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9800" r="0" b="-2098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4630400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Overview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440180"/>
            <a:ext cx="15087600" cy="548640"/>
            <a:chOff x="0" y="0"/>
            <a:chExt cx="20116800" cy="7315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731520"/>
            </a:xfrm>
            <a:custGeom>
              <a:avLst/>
              <a:gdLst/>
              <a:ahLst/>
              <a:cxnLst/>
              <a:rect r="r" b="b" t="t" l="l"/>
              <a:pathLst>
                <a:path h="73152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838" r="0" b="-48583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011680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29"/>
                </a:lnSpc>
              </a:pPr>
              <a:r>
                <a:rPr lang="en-US" sz="2524" i="true">
                  <a:solidFill>
                    <a:srgbClr val="5B6B7A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 number is not an answer — STAT-TWIN gives a reason and a confidence</a:t>
              </a:r>
            </a:p>
          </p:txBody>
        </p:sp>
      </p:grpSp>
      <p:sp>
        <p:nvSpPr>
          <p:cNvPr name="AutoShape 8" id="8"/>
          <p:cNvSpPr/>
          <p:nvPr/>
        </p:nvSpPr>
        <p:spPr>
          <a:xfrm rot="3960">
            <a:off x="813425" y="2121217"/>
            <a:ext cx="16615420" cy="0"/>
          </a:xfrm>
          <a:prstGeom prst="line">
            <a:avLst/>
          </a:prstGeom>
          <a:ln cap="rnd" w="9525">
            <a:solidFill>
              <a:srgbClr val="E2E8E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822960" y="2743200"/>
            <a:ext cx="685800" cy="685800"/>
            <a:chOff x="0" y="0"/>
            <a:chExt cx="914400" cy="914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822960" y="2743200"/>
            <a:ext cx="685800" cy="685800"/>
            <a:chOff x="0" y="0"/>
            <a:chExt cx="914400" cy="9144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851660" y="2660904"/>
            <a:ext cx="7680960" cy="1165860"/>
            <a:chOff x="0" y="0"/>
            <a:chExt cx="10241280" cy="15544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412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372" r="0" b="-78372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10241280" cy="16021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84"/>
                </a:lnSpc>
              </a:pPr>
              <a:r>
                <a:rPr lang="en-US" sz="257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Builds a statistical model of normal behaviour for each engine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22960" y="4046220"/>
            <a:ext cx="685800" cy="685800"/>
            <a:chOff x="0" y="0"/>
            <a:chExt cx="914400" cy="914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22960" y="4046220"/>
            <a:ext cx="685800" cy="685800"/>
            <a:chOff x="0" y="0"/>
            <a:chExt cx="914400" cy="9144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851660" y="3963924"/>
            <a:ext cx="7680960" cy="1165860"/>
            <a:chOff x="0" y="0"/>
            <a:chExt cx="10241280" cy="15544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372" r="0" b="-78372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10241280" cy="16021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84"/>
                </a:lnSpc>
              </a:pPr>
              <a:r>
                <a:rPr lang="en-US" sz="257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Tracks how the engine drifts away from that baseline over time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822960" y="5349240"/>
            <a:ext cx="685800" cy="685800"/>
            <a:chOff x="0" y="0"/>
            <a:chExt cx="914400" cy="9144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5349240"/>
            <a:ext cx="685800" cy="685800"/>
            <a:chOff x="0" y="0"/>
            <a:chExt cx="914400" cy="9144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851660" y="5266944"/>
            <a:ext cx="7680960" cy="1165860"/>
            <a:chOff x="0" y="0"/>
            <a:chExt cx="10241280" cy="15544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2412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372" r="0" b="-78372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10241280" cy="16021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84"/>
                </a:lnSpc>
              </a:pPr>
              <a:r>
                <a:rPr lang="en-US" sz="257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Forecasts failure probability 10–50 cycles ahead, with calibrated uncertainty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822960" y="6652260"/>
            <a:ext cx="685800" cy="685800"/>
            <a:chOff x="0" y="0"/>
            <a:chExt cx="914400" cy="914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6652260"/>
            <a:ext cx="685800" cy="685800"/>
            <a:chOff x="0" y="0"/>
            <a:chExt cx="914400" cy="9144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851660" y="6569964"/>
            <a:ext cx="7680960" cy="1165860"/>
            <a:chOff x="0" y="0"/>
            <a:chExt cx="10241280" cy="15544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2412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372" r="0" b="-78372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10241280" cy="16021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84"/>
                </a:lnSpc>
              </a:pPr>
              <a:r>
                <a:rPr lang="en-US" sz="257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Explains which sensors and statistics are driving the risk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0" y="2743200"/>
            <a:ext cx="7200900" cy="6035040"/>
            <a:chOff x="0" y="0"/>
            <a:chExt cx="9601200" cy="80467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601200" cy="8046720"/>
            </a:xfrm>
            <a:custGeom>
              <a:avLst/>
              <a:gdLst/>
              <a:ahLst/>
              <a:cxnLst/>
              <a:rect r="r" b="b" t="t" l="l"/>
              <a:pathLst>
                <a:path h="8046720" w="960120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9381744" y="0"/>
                  </a:lnTo>
                  <a:cubicBezTo>
                    <a:pt x="9502902" y="0"/>
                    <a:pt x="9601200" y="98298"/>
                    <a:pt x="9601200" y="219456"/>
                  </a:cubicBezTo>
                  <a:lnTo>
                    <a:pt x="9601200" y="7827264"/>
                  </a:lnTo>
                  <a:cubicBezTo>
                    <a:pt x="9601200" y="7948422"/>
                    <a:pt x="9502902" y="8046720"/>
                    <a:pt x="9381744" y="8046720"/>
                  </a:cubicBezTo>
                  <a:lnTo>
                    <a:pt x="219456" y="8046720"/>
                  </a:lnTo>
                  <a:cubicBezTo>
                    <a:pt x="98298" y="8046720"/>
                    <a:pt x="0" y="7948422"/>
                    <a:pt x="0" y="7827264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0835640" y="3154680"/>
            <a:ext cx="6172200" cy="517224"/>
            <a:chOff x="0" y="0"/>
            <a:chExt cx="8229600" cy="689632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229600" cy="689633"/>
            </a:xfrm>
            <a:custGeom>
              <a:avLst/>
              <a:gdLst/>
              <a:ahLst/>
              <a:cxnLst/>
              <a:rect r="r" b="b" t="t" l="l"/>
              <a:pathLst>
                <a:path h="689633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689633"/>
                  </a:lnTo>
                  <a:lnTo>
                    <a:pt x="0" y="68963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6113" r="0" b="-178928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8229600" cy="737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84"/>
                </a:lnSpc>
              </a:pPr>
              <a:r>
                <a:rPr lang="en-US" b="true" sz="2570" spc="467">
                  <a:solidFill>
                    <a:srgbClr val="F5A62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PRIMARY USE CASES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0904220" y="3977640"/>
            <a:ext cx="150876" cy="150876"/>
            <a:chOff x="0" y="0"/>
            <a:chExt cx="201168" cy="20116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11407140" y="3701415"/>
            <a:ext cx="5715000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9"/>
              </a:lnSpc>
            </a:pPr>
            <a:r>
              <a:rPr lang="en-US" sz="2574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College research project / ML-statistics demonstration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10904220" y="5143500"/>
            <a:ext cx="150876" cy="150876"/>
            <a:chOff x="0" y="0"/>
            <a:chExt cx="201168" cy="201168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sp>
        <p:nvSpPr>
          <p:cNvPr name="TextBox 51" id="51"/>
          <p:cNvSpPr txBox="true"/>
          <p:nvPr/>
        </p:nvSpPr>
        <p:spPr>
          <a:xfrm rot="0">
            <a:off x="11407140" y="4867275"/>
            <a:ext cx="5715000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4"/>
              </a:lnSpc>
            </a:pPr>
            <a:r>
              <a:rPr lang="en-US" sz="257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Research paper implementation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10904220" y="6309360"/>
            <a:ext cx="150876" cy="150876"/>
            <a:chOff x="0" y="0"/>
            <a:chExt cx="201168" cy="20116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sp>
        <p:nvSpPr>
          <p:cNvPr name="TextBox 54" id="54"/>
          <p:cNvSpPr txBox="true"/>
          <p:nvPr/>
        </p:nvSpPr>
        <p:spPr>
          <a:xfrm rot="0">
            <a:off x="11407140" y="6033135"/>
            <a:ext cx="5715000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4"/>
              </a:lnSpc>
            </a:pPr>
            <a:r>
              <a:rPr lang="en-US" sz="257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Technical presentation &amp; viva preparation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0904220" y="7475220"/>
            <a:ext cx="150876" cy="150876"/>
            <a:chOff x="0" y="0"/>
            <a:chExt cx="201168" cy="201168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sp>
        <p:nvSpPr>
          <p:cNvPr name="TextBox 57" id="57"/>
          <p:cNvSpPr txBox="true"/>
          <p:nvPr/>
        </p:nvSpPr>
        <p:spPr>
          <a:xfrm rot="0">
            <a:off x="11407140" y="7198995"/>
            <a:ext cx="5715000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4"/>
              </a:lnSpc>
            </a:pPr>
            <a:r>
              <a:rPr lang="en-US" sz="257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Future industrial expansion (dataset-agnostic design)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685800" y="9710928"/>
            <a:ext cx="4114800" cy="411480"/>
            <a:chOff x="0" y="0"/>
            <a:chExt cx="5486400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STAT-TWIN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6915943" y="9710928"/>
            <a:ext cx="685800" cy="411480"/>
            <a:chOff x="0" y="0"/>
            <a:chExt cx="91440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48640"/>
            <a:ext cx="10972800" cy="754380"/>
            <a:chOff x="0" y="0"/>
            <a:chExt cx="1463040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3418" r="0" b="-233418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4630400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Architecture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303020"/>
            <a:ext cx="15773400" cy="548640"/>
            <a:chOff x="0" y="0"/>
            <a:chExt cx="21031200" cy="7315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031200" cy="731520"/>
            </a:xfrm>
            <a:custGeom>
              <a:avLst/>
              <a:gdLst/>
              <a:ahLst/>
              <a:cxnLst/>
              <a:rect r="r" b="b" t="t" l="l"/>
              <a:pathLst>
                <a:path h="731520" w="21031200">
                  <a:moveTo>
                    <a:pt x="0" y="0"/>
                  </a:moveTo>
                  <a:lnTo>
                    <a:pt x="21031200" y="0"/>
                  </a:lnTo>
                  <a:lnTo>
                    <a:pt x="21031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0194" r="0" b="-510194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03120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i="true">
                  <a:solidFill>
                    <a:srgbClr val="5B6B7A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Raw telemetry to explainable, uncertainty-aware forecasts — one linear pipeline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2125980"/>
            <a:ext cx="5417820" cy="2359152"/>
            <a:chOff x="0" y="0"/>
            <a:chExt cx="7223760" cy="314553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223760" cy="3145536"/>
            </a:xfrm>
            <a:custGeom>
              <a:avLst/>
              <a:gdLst/>
              <a:ahLst/>
              <a:cxnLst/>
              <a:rect r="r" b="b" t="t" l="l"/>
              <a:pathLst>
                <a:path h="3145536" w="722376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7059168" y="0"/>
                  </a:lnTo>
                  <a:cubicBezTo>
                    <a:pt x="7150100" y="0"/>
                    <a:pt x="7223760" y="73660"/>
                    <a:pt x="7223760" y="164592"/>
                  </a:cubicBezTo>
                  <a:lnTo>
                    <a:pt x="7223760" y="2980944"/>
                  </a:lnTo>
                  <a:cubicBezTo>
                    <a:pt x="7223760" y="3071876"/>
                    <a:pt x="7150100" y="3145536"/>
                    <a:pt x="7059168" y="3145536"/>
                  </a:cubicBezTo>
                  <a:lnTo>
                    <a:pt x="164592" y="3145536"/>
                  </a:lnTo>
                  <a:cubicBezTo>
                    <a:pt x="73660" y="3145536"/>
                    <a:pt x="0" y="3071876"/>
                    <a:pt x="0" y="2980944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24712" y="2427732"/>
            <a:ext cx="603504" cy="603504"/>
            <a:chOff x="0" y="0"/>
            <a:chExt cx="804672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24712" y="2427732"/>
            <a:ext cx="603504" cy="603504"/>
            <a:chOff x="0" y="0"/>
            <a:chExt cx="804672" cy="80467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804672" cy="8237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24712" y="3195828"/>
            <a:ext cx="4814316" cy="548640"/>
            <a:chOff x="0" y="0"/>
            <a:chExt cx="6419088" cy="7315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419088" cy="731520"/>
            </a:xfrm>
            <a:custGeom>
              <a:avLst/>
              <a:gdLst/>
              <a:ahLst/>
              <a:cxnLst/>
              <a:rect r="r" b="b" t="t" l="l"/>
              <a:pathLst>
                <a:path h="73152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641908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Data Ingestion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124712" y="3744468"/>
            <a:ext cx="4814316" cy="685800"/>
            <a:chOff x="0" y="0"/>
            <a:chExt cx="6419088" cy="914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19088" cy="914400"/>
            </a:xfrm>
            <a:custGeom>
              <a:avLst/>
              <a:gdLst/>
              <a:ahLst/>
              <a:cxnLst/>
              <a:rect r="r" b="b" t="t" l="l"/>
              <a:pathLst>
                <a:path h="91440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784" r="0" b="-8678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6419088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E2EEF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Unit-level split (GroupKFold), no leakage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240780" y="2962656"/>
            <a:ext cx="246888" cy="685800"/>
            <a:chOff x="0" y="0"/>
            <a:chExt cx="329184" cy="914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29184" cy="914400"/>
            </a:xfrm>
            <a:custGeom>
              <a:avLst/>
              <a:gdLst/>
              <a:ahLst/>
              <a:cxnLst/>
              <a:rect r="r" b="b" t="t" l="l"/>
              <a:pathLst>
                <a:path h="914400" w="329184">
                  <a:moveTo>
                    <a:pt x="0" y="0"/>
                  </a:moveTo>
                  <a:lnTo>
                    <a:pt x="329184" y="0"/>
                  </a:lnTo>
                  <a:lnTo>
                    <a:pt x="32918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6398" t="0" r="-306398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32918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5B6B7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487668" y="2125980"/>
            <a:ext cx="5417820" cy="2359152"/>
            <a:chOff x="0" y="0"/>
            <a:chExt cx="7223760" cy="314553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23760" cy="3145536"/>
            </a:xfrm>
            <a:custGeom>
              <a:avLst/>
              <a:gdLst/>
              <a:ahLst/>
              <a:cxnLst/>
              <a:rect r="r" b="b" t="t" l="l"/>
              <a:pathLst>
                <a:path h="3145536" w="722376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7059168" y="0"/>
                  </a:lnTo>
                  <a:cubicBezTo>
                    <a:pt x="7150100" y="0"/>
                    <a:pt x="7223760" y="73660"/>
                    <a:pt x="7223760" y="164592"/>
                  </a:cubicBezTo>
                  <a:lnTo>
                    <a:pt x="7223760" y="2980944"/>
                  </a:lnTo>
                  <a:cubicBezTo>
                    <a:pt x="7223760" y="3071876"/>
                    <a:pt x="7150100" y="3145536"/>
                    <a:pt x="7059168" y="3145536"/>
                  </a:cubicBezTo>
                  <a:lnTo>
                    <a:pt x="164592" y="3145536"/>
                  </a:lnTo>
                  <a:cubicBezTo>
                    <a:pt x="73660" y="3145536"/>
                    <a:pt x="0" y="3071876"/>
                    <a:pt x="0" y="298094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789420" y="2427732"/>
            <a:ext cx="603504" cy="603504"/>
            <a:chOff x="0" y="0"/>
            <a:chExt cx="804672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6789420" y="2427732"/>
            <a:ext cx="603504" cy="603504"/>
            <a:chOff x="0" y="0"/>
            <a:chExt cx="804672" cy="80467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804672" cy="8237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789420" y="3195828"/>
            <a:ext cx="4814316" cy="548640"/>
            <a:chOff x="0" y="0"/>
            <a:chExt cx="6419088" cy="7315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419088" cy="731520"/>
            </a:xfrm>
            <a:custGeom>
              <a:avLst/>
              <a:gdLst/>
              <a:ahLst/>
              <a:cxnLst/>
              <a:rect r="r" b="b" t="t" l="l"/>
              <a:pathLst>
                <a:path h="73152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641908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Preprocessing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789420" y="3744468"/>
            <a:ext cx="4814316" cy="685800"/>
            <a:chOff x="0" y="0"/>
            <a:chExt cx="6419088" cy="9144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419088" cy="914400"/>
            </a:xfrm>
            <a:custGeom>
              <a:avLst/>
              <a:gdLst/>
              <a:ahLst/>
              <a:cxnLst/>
              <a:rect r="r" b="b" t="t" l="l"/>
              <a:pathLst>
                <a:path h="91440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784" r="0" b="-86784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6419088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E2EEF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Missing values, outliers, scaling, DQ flags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1905488" y="2962656"/>
            <a:ext cx="246888" cy="685800"/>
            <a:chOff x="0" y="0"/>
            <a:chExt cx="329184" cy="9144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29184" cy="914400"/>
            </a:xfrm>
            <a:custGeom>
              <a:avLst/>
              <a:gdLst/>
              <a:ahLst/>
              <a:cxnLst/>
              <a:rect r="r" b="b" t="t" l="l"/>
              <a:pathLst>
                <a:path h="914400" w="329184">
                  <a:moveTo>
                    <a:pt x="0" y="0"/>
                  </a:moveTo>
                  <a:lnTo>
                    <a:pt x="329184" y="0"/>
                  </a:lnTo>
                  <a:lnTo>
                    <a:pt x="32918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6398" t="0" r="-306398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32918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5B6B7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2152376" y="2125980"/>
            <a:ext cx="5417820" cy="2359152"/>
            <a:chOff x="0" y="0"/>
            <a:chExt cx="7223760" cy="314553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7223760" cy="3145536"/>
            </a:xfrm>
            <a:custGeom>
              <a:avLst/>
              <a:gdLst/>
              <a:ahLst/>
              <a:cxnLst/>
              <a:rect r="r" b="b" t="t" l="l"/>
              <a:pathLst>
                <a:path h="3145536" w="722376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7059168" y="0"/>
                  </a:lnTo>
                  <a:cubicBezTo>
                    <a:pt x="7150100" y="0"/>
                    <a:pt x="7223760" y="73660"/>
                    <a:pt x="7223760" y="164592"/>
                  </a:cubicBezTo>
                  <a:lnTo>
                    <a:pt x="7223760" y="2980944"/>
                  </a:lnTo>
                  <a:cubicBezTo>
                    <a:pt x="7223760" y="3071876"/>
                    <a:pt x="7150100" y="3145536"/>
                    <a:pt x="7059168" y="3145536"/>
                  </a:cubicBezTo>
                  <a:lnTo>
                    <a:pt x="164592" y="3145536"/>
                  </a:lnTo>
                  <a:cubicBezTo>
                    <a:pt x="73660" y="3145536"/>
                    <a:pt x="0" y="3071876"/>
                    <a:pt x="0" y="2980944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2454128" y="2427732"/>
            <a:ext cx="603504" cy="603504"/>
            <a:chOff x="0" y="0"/>
            <a:chExt cx="804672" cy="80467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2454128" y="2427732"/>
            <a:ext cx="603504" cy="603504"/>
            <a:chOff x="0" y="0"/>
            <a:chExt cx="804672" cy="80467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19050"/>
              <a:ext cx="804672" cy="8237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454128" y="3195828"/>
            <a:ext cx="4814316" cy="548640"/>
            <a:chOff x="0" y="0"/>
            <a:chExt cx="6419088" cy="7315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419088" cy="731520"/>
            </a:xfrm>
            <a:custGeom>
              <a:avLst/>
              <a:gdLst/>
              <a:ahLst/>
              <a:cxnLst/>
              <a:rect r="r" b="b" t="t" l="l"/>
              <a:pathLst>
                <a:path h="73152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9525"/>
              <a:ext cx="641908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Statistical Engine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454128" y="3744468"/>
            <a:ext cx="4814316" cy="685800"/>
            <a:chOff x="0" y="0"/>
            <a:chExt cx="6419088" cy="9144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419088" cy="914400"/>
            </a:xfrm>
            <a:custGeom>
              <a:avLst/>
              <a:gdLst/>
              <a:ahLst/>
              <a:cxnLst/>
              <a:rect r="r" b="b" t="t" l="l"/>
              <a:pathLst>
                <a:path h="91440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784" r="0" b="-86784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19050"/>
              <a:ext cx="6419088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E2EEF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Rolling stats, EWMA, trend, correlation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822960" y="4732020"/>
            <a:ext cx="5417820" cy="2359152"/>
            <a:chOff x="0" y="0"/>
            <a:chExt cx="7223760" cy="314553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223760" cy="3145536"/>
            </a:xfrm>
            <a:custGeom>
              <a:avLst/>
              <a:gdLst/>
              <a:ahLst/>
              <a:cxnLst/>
              <a:rect r="r" b="b" t="t" l="l"/>
              <a:pathLst>
                <a:path h="3145536" w="722376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7059168" y="0"/>
                  </a:lnTo>
                  <a:cubicBezTo>
                    <a:pt x="7150100" y="0"/>
                    <a:pt x="7223760" y="73660"/>
                    <a:pt x="7223760" y="164592"/>
                  </a:cubicBezTo>
                  <a:lnTo>
                    <a:pt x="7223760" y="2980944"/>
                  </a:lnTo>
                  <a:cubicBezTo>
                    <a:pt x="7223760" y="3071876"/>
                    <a:pt x="7150100" y="3145536"/>
                    <a:pt x="7059168" y="3145536"/>
                  </a:cubicBezTo>
                  <a:lnTo>
                    <a:pt x="164592" y="3145536"/>
                  </a:lnTo>
                  <a:cubicBezTo>
                    <a:pt x="73660" y="3145536"/>
                    <a:pt x="0" y="3071876"/>
                    <a:pt x="0" y="298094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124712" y="5033772"/>
            <a:ext cx="603504" cy="603504"/>
            <a:chOff x="0" y="0"/>
            <a:chExt cx="804672" cy="804672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124712" y="5033772"/>
            <a:ext cx="603504" cy="603504"/>
            <a:chOff x="0" y="0"/>
            <a:chExt cx="804672" cy="804672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804672" cy="8237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124712" y="5801868"/>
            <a:ext cx="4814316" cy="548640"/>
            <a:chOff x="0" y="0"/>
            <a:chExt cx="6419088" cy="73152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419088" cy="731520"/>
            </a:xfrm>
            <a:custGeom>
              <a:avLst/>
              <a:gdLst/>
              <a:ahLst/>
              <a:cxnLst/>
              <a:rect r="r" b="b" t="t" l="l"/>
              <a:pathLst>
                <a:path h="73152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9525"/>
              <a:ext cx="641908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Health Engine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124712" y="6350508"/>
            <a:ext cx="4814316" cy="685800"/>
            <a:chOff x="0" y="0"/>
            <a:chExt cx="6419088" cy="9144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6419088" cy="914400"/>
            </a:xfrm>
            <a:custGeom>
              <a:avLst/>
              <a:gdLst/>
              <a:ahLst/>
              <a:cxnLst/>
              <a:rect r="r" b="b" t="t" l="l"/>
              <a:pathLst>
                <a:path h="91440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784" r="0" b="-86784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19050"/>
              <a:ext cx="6419088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E2EEF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SHI 0–100, 5 health states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6240780" y="5568696"/>
            <a:ext cx="246888" cy="685800"/>
            <a:chOff x="0" y="0"/>
            <a:chExt cx="329184" cy="9144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329184" cy="914400"/>
            </a:xfrm>
            <a:custGeom>
              <a:avLst/>
              <a:gdLst/>
              <a:ahLst/>
              <a:cxnLst/>
              <a:rect r="r" b="b" t="t" l="l"/>
              <a:pathLst>
                <a:path h="914400" w="329184">
                  <a:moveTo>
                    <a:pt x="0" y="0"/>
                  </a:moveTo>
                  <a:lnTo>
                    <a:pt x="329184" y="0"/>
                  </a:lnTo>
                  <a:lnTo>
                    <a:pt x="32918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6398" t="0" r="-306398" b="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32918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5B6B7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6487668" y="4732020"/>
            <a:ext cx="5417820" cy="2359152"/>
            <a:chOff x="0" y="0"/>
            <a:chExt cx="7223760" cy="314553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7223760" cy="3145536"/>
            </a:xfrm>
            <a:custGeom>
              <a:avLst/>
              <a:gdLst/>
              <a:ahLst/>
              <a:cxnLst/>
              <a:rect r="r" b="b" t="t" l="l"/>
              <a:pathLst>
                <a:path h="3145536" w="722376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7059168" y="0"/>
                  </a:lnTo>
                  <a:cubicBezTo>
                    <a:pt x="7150100" y="0"/>
                    <a:pt x="7223760" y="73660"/>
                    <a:pt x="7223760" y="164592"/>
                  </a:cubicBezTo>
                  <a:lnTo>
                    <a:pt x="7223760" y="2980944"/>
                  </a:lnTo>
                  <a:cubicBezTo>
                    <a:pt x="7223760" y="3071876"/>
                    <a:pt x="7150100" y="3145536"/>
                    <a:pt x="7059168" y="3145536"/>
                  </a:cubicBezTo>
                  <a:lnTo>
                    <a:pt x="164592" y="3145536"/>
                  </a:lnTo>
                  <a:cubicBezTo>
                    <a:pt x="73660" y="3145536"/>
                    <a:pt x="0" y="3071876"/>
                    <a:pt x="0" y="2980944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6789420" y="5033772"/>
            <a:ext cx="603504" cy="603504"/>
            <a:chOff x="0" y="0"/>
            <a:chExt cx="804672" cy="804672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6789420" y="5033772"/>
            <a:ext cx="603504" cy="603504"/>
            <a:chOff x="0" y="0"/>
            <a:chExt cx="804672" cy="804672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19050"/>
              <a:ext cx="804672" cy="8237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6789420" y="5801868"/>
            <a:ext cx="4814316" cy="548640"/>
            <a:chOff x="0" y="0"/>
            <a:chExt cx="6419088" cy="73152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6419088" cy="731520"/>
            </a:xfrm>
            <a:custGeom>
              <a:avLst/>
              <a:gdLst/>
              <a:ahLst/>
              <a:cxnLst/>
              <a:rect r="r" b="b" t="t" l="l"/>
              <a:pathLst>
                <a:path h="73152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9525"/>
              <a:ext cx="641908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ML Layer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6789420" y="6350508"/>
            <a:ext cx="4814316" cy="685800"/>
            <a:chOff x="0" y="0"/>
            <a:chExt cx="6419088" cy="91440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419088" cy="914400"/>
            </a:xfrm>
            <a:custGeom>
              <a:avLst/>
              <a:gdLst/>
              <a:ahLst/>
              <a:cxnLst/>
              <a:rect r="r" b="b" t="t" l="l"/>
              <a:pathLst>
                <a:path h="91440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784" r="0" b="-86784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19050"/>
              <a:ext cx="6419088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E2EEF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7 model families, shared interface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1905488" y="5568696"/>
            <a:ext cx="246888" cy="685800"/>
            <a:chOff x="0" y="0"/>
            <a:chExt cx="329184" cy="91440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29184" cy="914400"/>
            </a:xfrm>
            <a:custGeom>
              <a:avLst/>
              <a:gdLst/>
              <a:ahLst/>
              <a:cxnLst/>
              <a:rect r="r" b="b" t="t" l="l"/>
              <a:pathLst>
                <a:path h="914400" w="329184">
                  <a:moveTo>
                    <a:pt x="0" y="0"/>
                  </a:moveTo>
                  <a:lnTo>
                    <a:pt x="329184" y="0"/>
                  </a:lnTo>
                  <a:lnTo>
                    <a:pt x="32918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6398" t="0" r="-306398" b="0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38100"/>
              <a:ext cx="32918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5B6B7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2152376" y="4732020"/>
            <a:ext cx="5417820" cy="2359152"/>
            <a:chOff x="0" y="0"/>
            <a:chExt cx="7223760" cy="3145536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7223760" cy="3145536"/>
            </a:xfrm>
            <a:custGeom>
              <a:avLst/>
              <a:gdLst/>
              <a:ahLst/>
              <a:cxnLst/>
              <a:rect r="r" b="b" t="t" l="l"/>
              <a:pathLst>
                <a:path h="3145536" w="722376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7059168" y="0"/>
                  </a:lnTo>
                  <a:cubicBezTo>
                    <a:pt x="7150100" y="0"/>
                    <a:pt x="7223760" y="73660"/>
                    <a:pt x="7223760" y="164592"/>
                  </a:cubicBezTo>
                  <a:lnTo>
                    <a:pt x="7223760" y="2980944"/>
                  </a:lnTo>
                  <a:cubicBezTo>
                    <a:pt x="7223760" y="3071876"/>
                    <a:pt x="7150100" y="3145536"/>
                    <a:pt x="7059168" y="3145536"/>
                  </a:cubicBezTo>
                  <a:lnTo>
                    <a:pt x="164592" y="3145536"/>
                  </a:lnTo>
                  <a:cubicBezTo>
                    <a:pt x="73660" y="3145536"/>
                    <a:pt x="0" y="3071876"/>
                    <a:pt x="0" y="298094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87" id="87"/>
          <p:cNvGrpSpPr/>
          <p:nvPr/>
        </p:nvGrpSpPr>
        <p:grpSpPr>
          <a:xfrm rot="0">
            <a:off x="12454128" y="5033772"/>
            <a:ext cx="603504" cy="603504"/>
            <a:chOff x="0" y="0"/>
            <a:chExt cx="804672" cy="804672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89" id="89"/>
          <p:cNvGrpSpPr/>
          <p:nvPr/>
        </p:nvGrpSpPr>
        <p:grpSpPr>
          <a:xfrm rot="0">
            <a:off x="12454128" y="5033772"/>
            <a:ext cx="603504" cy="603504"/>
            <a:chOff x="0" y="0"/>
            <a:chExt cx="804672" cy="804672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91" id="91"/>
            <p:cNvSpPr txBox="true"/>
            <p:nvPr/>
          </p:nvSpPr>
          <p:spPr>
            <a:xfrm>
              <a:off x="0" y="-19050"/>
              <a:ext cx="804672" cy="8237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6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12454128" y="5801868"/>
            <a:ext cx="4814316" cy="548640"/>
            <a:chOff x="0" y="0"/>
            <a:chExt cx="6419088" cy="73152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419088" cy="731520"/>
            </a:xfrm>
            <a:custGeom>
              <a:avLst/>
              <a:gdLst/>
              <a:ahLst/>
              <a:cxnLst/>
              <a:rect r="r" b="b" t="t" l="l"/>
              <a:pathLst>
                <a:path h="73152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9525"/>
              <a:ext cx="641908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Forecasting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454128" y="6350508"/>
            <a:ext cx="4814316" cy="685800"/>
            <a:chOff x="0" y="0"/>
            <a:chExt cx="6419088" cy="91440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6419088" cy="914400"/>
            </a:xfrm>
            <a:custGeom>
              <a:avLst/>
              <a:gdLst/>
              <a:ahLst/>
              <a:cxnLst/>
              <a:rect r="r" b="b" t="t" l="l"/>
              <a:pathLst>
                <a:path h="91440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784" r="0" b="-86784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6419088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E2EEF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Multi-horizon probability, RUL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822960" y="7338060"/>
            <a:ext cx="5417820" cy="2359152"/>
            <a:chOff x="0" y="0"/>
            <a:chExt cx="7223760" cy="3145536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7223760" cy="3145536"/>
            </a:xfrm>
            <a:custGeom>
              <a:avLst/>
              <a:gdLst/>
              <a:ahLst/>
              <a:cxnLst/>
              <a:rect r="r" b="b" t="t" l="l"/>
              <a:pathLst>
                <a:path h="3145536" w="722376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7059168" y="0"/>
                  </a:lnTo>
                  <a:cubicBezTo>
                    <a:pt x="7150100" y="0"/>
                    <a:pt x="7223760" y="73660"/>
                    <a:pt x="7223760" y="164592"/>
                  </a:cubicBezTo>
                  <a:lnTo>
                    <a:pt x="7223760" y="2980944"/>
                  </a:lnTo>
                  <a:cubicBezTo>
                    <a:pt x="7223760" y="3071876"/>
                    <a:pt x="7150100" y="3145536"/>
                    <a:pt x="7059168" y="3145536"/>
                  </a:cubicBezTo>
                  <a:lnTo>
                    <a:pt x="164592" y="3145536"/>
                  </a:lnTo>
                  <a:cubicBezTo>
                    <a:pt x="73660" y="3145536"/>
                    <a:pt x="0" y="3071876"/>
                    <a:pt x="0" y="2980944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1124712" y="7639812"/>
            <a:ext cx="603504" cy="603504"/>
            <a:chOff x="0" y="0"/>
            <a:chExt cx="804672" cy="804672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1124712" y="7639812"/>
            <a:ext cx="603504" cy="603504"/>
            <a:chOff x="0" y="0"/>
            <a:chExt cx="804672" cy="804672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804672" cy="8237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7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124712" y="8407908"/>
            <a:ext cx="4814316" cy="548640"/>
            <a:chOff x="0" y="0"/>
            <a:chExt cx="6419088" cy="73152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6419088" cy="731520"/>
            </a:xfrm>
            <a:custGeom>
              <a:avLst/>
              <a:gdLst/>
              <a:ahLst/>
              <a:cxnLst/>
              <a:rect r="r" b="b" t="t" l="l"/>
              <a:pathLst>
                <a:path h="73152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9525"/>
              <a:ext cx="641908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Uncertainty &amp; Calibration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124712" y="8956548"/>
            <a:ext cx="4814316" cy="685800"/>
            <a:chOff x="0" y="0"/>
            <a:chExt cx="6419088" cy="91440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6419088" cy="914400"/>
            </a:xfrm>
            <a:custGeom>
              <a:avLst/>
              <a:gdLst/>
              <a:ahLst/>
              <a:cxnLst/>
              <a:rect r="r" b="b" t="t" l="l"/>
              <a:pathLst>
                <a:path h="91440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784" r="0" b="-86784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19050"/>
              <a:ext cx="6419088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E2EEF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Conformal intervals, isotonic calibration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6240780" y="8174736"/>
            <a:ext cx="246888" cy="685800"/>
            <a:chOff x="0" y="0"/>
            <a:chExt cx="329184" cy="914400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29184" cy="914400"/>
            </a:xfrm>
            <a:custGeom>
              <a:avLst/>
              <a:gdLst/>
              <a:ahLst/>
              <a:cxnLst/>
              <a:rect r="r" b="b" t="t" l="l"/>
              <a:pathLst>
                <a:path h="914400" w="329184">
                  <a:moveTo>
                    <a:pt x="0" y="0"/>
                  </a:moveTo>
                  <a:lnTo>
                    <a:pt x="329184" y="0"/>
                  </a:lnTo>
                  <a:lnTo>
                    <a:pt x="32918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6398" t="0" r="-306398" b="0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32918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5B6B7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6487668" y="7338060"/>
            <a:ext cx="5417820" cy="2359152"/>
            <a:chOff x="0" y="0"/>
            <a:chExt cx="7223760" cy="3145536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7223760" cy="3145536"/>
            </a:xfrm>
            <a:custGeom>
              <a:avLst/>
              <a:gdLst/>
              <a:ahLst/>
              <a:cxnLst/>
              <a:rect r="r" b="b" t="t" l="l"/>
              <a:pathLst>
                <a:path h="3145536" w="722376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7059168" y="0"/>
                  </a:lnTo>
                  <a:cubicBezTo>
                    <a:pt x="7150100" y="0"/>
                    <a:pt x="7223760" y="73660"/>
                    <a:pt x="7223760" y="164592"/>
                  </a:cubicBezTo>
                  <a:lnTo>
                    <a:pt x="7223760" y="2980944"/>
                  </a:lnTo>
                  <a:cubicBezTo>
                    <a:pt x="7223760" y="3071876"/>
                    <a:pt x="7150100" y="3145536"/>
                    <a:pt x="7059168" y="3145536"/>
                  </a:cubicBezTo>
                  <a:lnTo>
                    <a:pt x="164592" y="3145536"/>
                  </a:lnTo>
                  <a:cubicBezTo>
                    <a:pt x="73660" y="3145536"/>
                    <a:pt x="0" y="3071876"/>
                    <a:pt x="0" y="298094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6789420" y="7639812"/>
            <a:ext cx="603504" cy="603504"/>
            <a:chOff x="0" y="0"/>
            <a:chExt cx="804672" cy="804672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6789420" y="7639812"/>
            <a:ext cx="603504" cy="603504"/>
            <a:chOff x="0" y="0"/>
            <a:chExt cx="804672" cy="804672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19050"/>
              <a:ext cx="804672" cy="8237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8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6789420" y="8407908"/>
            <a:ext cx="4814316" cy="548640"/>
            <a:chOff x="0" y="0"/>
            <a:chExt cx="6419088" cy="731520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6419088" cy="731520"/>
            </a:xfrm>
            <a:custGeom>
              <a:avLst/>
              <a:gdLst/>
              <a:ahLst/>
              <a:cxnLst/>
              <a:rect r="r" b="b" t="t" l="l"/>
              <a:pathLst>
                <a:path h="73152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9525"/>
              <a:ext cx="641908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Explainability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6789420" y="8956548"/>
            <a:ext cx="4814316" cy="685800"/>
            <a:chOff x="0" y="0"/>
            <a:chExt cx="6419088" cy="914400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6419088" cy="914400"/>
            </a:xfrm>
            <a:custGeom>
              <a:avLst/>
              <a:gdLst/>
              <a:ahLst/>
              <a:cxnLst/>
              <a:rect r="r" b="b" t="t" l="l"/>
              <a:pathLst>
                <a:path h="91440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784" r="0" b="-86784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6419088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E2EEF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Evidence cards, occlusion, risk decomposition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11905488" y="8174736"/>
            <a:ext cx="246888" cy="685800"/>
            <a:chOff x="0" y="0"/>
            <a:chExt cx="329184" cy="914400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329184" cy="914400"/>
            </a:xfrm>
            <a:custGeom>
              <a:avLst/>
              <a:gdLst/>
              <a:ahLst/>
              <a:cxnLst/>
              <a:rect r="r" b="b" t="t" l="l"/>
              <a:pathLst>
                <a:path h="914400" w="329184">
                  <a:moveTo>
                    <a:pt x="0" y="0"/>
                  </a:moveTo>
                  <a:lnTo>
                    <a:pt x="329184" y="0"/>
                  </a:lnTo>
                  <a:lnTo>
                    <a:pt x="32918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6398" t="0" r="-306398" b="0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38100"/>
              <a:ext cx="329184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5B6B7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2152376" y="7338060"/>
            <a:ext cx="5417820" cy="2359152"/>
            <a:chOff x="0" y="0"/>
            <a:chExt cx="7223760" cy="3145536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7223760" cy="3145536"/>
            </a:xfrm>
            <a:custGeom>
              <a:avLst/>
              <a:gdLst/>
              <a:ahLst/>
              <a:cxnLst/>
              <a:rect r="r" b="b" t="t" l="l"/>
              <a:pathLst>
                <a:path h="3145536" w="7223760">
                  <a:moveTo>
                    <a:pt x="0" y="164592"/>
                  </a:moveTo>
                  <a:cubicBezTo>
                    <a:pt x="0" y="73660"/>
                    <a:pt x="73660" y="0"/>
                    <a:pt x="164592" y="0"/>
                  </a:cubicBezTo>
                  <a:lnTo>
                    <a:pt x="7059168" y="0"/>
                  </a:lnTo>
                  <a:cubicBezTo>
                    <a:pt x="7150100" y="0"/>
                    <a:pt x="7223760" y="73660"/>
                    <a:pt x="7223760" y="164592"/>
                  </a:cubicBezTo>
                  <a:lnTo>
                    <a:pt x="7223760" y="2980944"/>
                  </a:lnTo>
                  <a:cubicBezTo>
                    <a:pt x="7223760" y="3071876"/>
                    <a:pt x="7150100" y="3145536"/>
                    <a:pt x="7059168" y="3145536"/>
                  </a:cubicBezTo>
                  <a:lnTo>
                    <a:pt x="164592" y="3145536"/>
                  </a:lnTo>
                  <a:cubicBezTo>
                    <a:pt x="73660" y="3145536"/>
                    <a:pt x="0" y="3071876"/>
                    <a:pt x="0" y="2980944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132" id="132"/>
          <p:cNvGrpSpPr/>
          <p:nvPr/>
        </p:nvGrpSpPr>
        <p:grpSpPr>
          <a:xfrm rot="0">
            <a:off x="12454128" y="7639812"/>
            <a:ext cx="603504" cy="603504"/>
            <a:chOff x="0" y="0"/>
            <a:chExt cx="804672" cy="80467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134" id="134"/>
          <p:cNvGrpSpPr/>
          <p:nvPr/>
        </p:nvGrpSpPr>
        <p:grpSpPr>
          <a:xfrm rot="0">
            <a:off x="12454128" y="7639812"/>
            <a:ext cx="603504" cy="603504"/>
            <a:chOff x="0" y="0"/>
            <a:chExt cx="804672" cy="804672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804672" cy="804672"/>
            </a:xfrm>
            <a:custGeom>
              <a:avLst/>
              <a:gdLst/>
              <a:ahLst/>
              <a:cxnLst/>
              <a:rect r="r" b="b" t="t" l="l"/>
              <a:pathLst>
                <a:path h="804672" w="804672">
                  <a:moveTo>
                    <a:pt x="0" y="0"/>
                  </a:moveTo>
                  <a:lnTo>
                    <a:pt x="804672" y="0"/>
                  </a:lnTo>
                  <a:lnTo>
                    <a:pt x="804672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19050"/>
              <a:ext cx="804672" cy="8237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9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2454128" y="8407908"/>
            <a:ext cx="4814316" cy="548640"/>
            <a:chOff x="0" y="0"/>
            <a:chExt cx="6419088" cy="731520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6419088" cy="731520"/>
            </a:xfrm>
            <a:custGeom>
              <a:avLst/>
              <a:gdLst/>
              <a:ahLst/>
              <a:cxnLst/>
              <a:rect r="r" b="b" t="t" l="l"/>
              <a:pathLst>
                <a:path h="73152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9525"/>
              <a:ext cx="6419088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What-If Simulator</a:t>
              </a:r>
            </a:p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12454128" y="8956548"/>
            <a:ext cx="4814316" cy="685800"/>
            <a:chOff x="0" y="0"/>
            <a:chExt cx="6419088" cy="914400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6419088" cy="914400"/>
            </a:xfrm>
            <a:custGeom>
              <a:avLst/>
              <a:gdLst/>
              <a:ahLst/>
              <a:cxnLst/>
              <a:rect r="r" b="b" t="t" l="l"/>
              <a:pathLst>
                <a:path h="914400" w="6419088">
                  <a:moveTo>
                    <a:pt x="0" y="0"/>
                  </a:moveTo>
                  <a:lnTo>
                    <a:pt x="6419088" y="0"/>
                  </a:lnTo>
                  <a:lnTo>
                    <a:pt x="6419088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784" r="0" b="-86784"/>
              </a:stretch>
            </a:blipFill>
          </p:spPr>
        </p:sp>
        <p:sp>
          <p:nvSpPr>
            <p:cNvPr name="TextBox 142" id="142"/>
            <p:cNvSpPr txBox="true"/>
            <p:nvPr/>
          </p:nvSpPr>
          <p:spPr>
            <a:xfrm>
              <a:off x="0" y="-19050"/>
              <a:ext cx="6419088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E2EEF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Perturb → recompute → re-predict</a:t>
              </a:r>
            </a:p>
          </p:txBody>
        </p:sp>
      </p:grpSp>
      <p:grpSp>
        <p:nvGrpSpPr>
          <p:cNvPr name="Group 143" id="143"/>
          <p:cNvGrpSpPr/>
          <p:nvPr/>
        </p:nvGrpSpPr>
        <p:grpSpPr>
          <a:xfrm rot="0">
            <a:off x="685800" y="9710928"/>
            <a:ext cx="4114800" cy="411480"/>
            <a:chOff x="0" y="0"/>
            <a:chExt cx="5486400" cy="548640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STAT-TWIN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6915943" y="9710928"/>
            <a:ext cx="685800" cy="411480"/>
            <a:chOff x="0" y="0"/>
            <a:chExt cx="914400" cy="548640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48" id="148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48640"/>
            <a:ext cx="10972800" cy="754380"/>
            <a:chOff x="0" y="0"/>
            <a:chExt cx="1463040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3418" r="0" b="-233418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4630400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Key Features</a:t>
              </a:r>
            </a:p>
          </p:txBody>
        </p:sp>
      </p:grpSp>
      <p:sp>
        <p:nvSpPr>
          <p:cNvPr name="AutoShape 5" id="5"/>
          <p:cNvSpPr/>
          <p:nvPr/>
        </p:nvSpPr>
        <p:spPr>
          <a:xfrm rot="3960">
            <a:off x="813425" y="1366838"/>
            <a:ext cx="16615420" cy="0"/>
          </a:xfrm>
          <a:prstGeom prst="line">
            <a:avLst/>
          </a:prstGeom>
          <a:ln cap="rnd" w="9525">
            <a:solidFill>
              <a:srgbClr val="E2E8E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813435" y="1842135"/>
            <a:ext cx="4065270" cy="3516630"/>
            <a:chOff x="0" y="0"/>
            <a:chExt cx="5420360" cy="4688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420360" cy="4688840"/>
            </a:xfrm>
            <a:custGeom>
              <a:avLst/>
              <a:gdLst/>
              <a:ahLst/>
              <a:cxnLst/>
              <a:rect r="r" b="b" t="t" l="l"/>
              <a:pathLst>
                <a:path h="4688840" w="5420360">
                  <a:moveTo>
                    <a:pt x="0" y="183896"/>
                  </a:moveTo>
                  <a:cubicBezTo>
                    <a:pt x="0" y="82296"/>
                    <a:pt x="82296" y="0"/>
                    <a:pt x="183896" y="0"/>
                  </a:cubicBezTo>
                  <a:lnTo>
                    <a:pt x="5236464" y="0"/>
                  </a:lnTo>
                  <a:cubicBezTo>
                    <a:pt x="5338064" y="0"/>
                    <a:pt x="5420360" y="82296"/>
                    <a:pt x="5420360" y="183896"/>
                  </a:cubicBezTo>
                  <a:lnTo>
                    <a:pt x="5420360" y="4504944"/>
                  </a:lnTo>
                  <a:cubicBezTo>
                    <a:pt x="5420360" y="4606544"/>
                    <a:pt x="5338064" y="4688840"/>
                    <a:pt x="5236464" y="4688840"/>
                  </a:cubicBezTo>
                  <a:lnTo>
                    <a:pt x="183896" y="4688840"/>
                  </a:lnTo>
                  <a:cubicBezTo>
                    <a:pt x="82296" y="4688840"/>
                    <a:pt x="0" y="4606544"/>
                    <a:pt x="0" y="450494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124712" y="2153412"/>
            <a:ext cx="685800" cy="685800"/>
            <a:chOff x="0" y="0"/>
            <a:chExt cx="914400" cy="914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316736" y="2345436"/>
            <a:ext cx="301752" cy="301752"/>
            <a:chOff x="0" y="0"/>
            <a:chExt cx="402336" cy="4023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201168"/>
                  </a:moveTo>
                  <a:cubicBezTo>
                    <a:pt x="0" y="90043"/>
                    <a:pt x="90043" y="0"/>
                    <a:pt x="201168" y="0"/>
                  </a:cubicBezTo>
                  <a:cubicBezTo>
                    <a:pt x="312293" y="0"/>
                    <a:pt x="402336" y="90043"/>
                    <a:pt x="402336" y="201168"/>
                  </a:cubicBezTo>
                  <a:cubicBezTo>
                    <a:pt x="402336" y="312293"/>
                    <a:pt x="312293" y="402336"/>
                    <a:pt x="201168" y="402336"/>
                  </a:cubicBezTo>
                  <a:cubicBezTo>
                    <a:pt x="90043" y="402336"/>
                    <a:pt x="0" y="312293"/>
                    <a:pt x="0" y="20116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24712" y="2836311"/>
            <a:ext cx="3497580" cy="1666334"/>
            <a:chOff x="0" y="0"/>
            <a:chExt cx="4663440" cy="222177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663440" cy="2221779"/>
            </a:xfrm>
            <a:custGeom>
              <a:avLst/>
              <a:gdLst/>
              <a:ahLst/>
              <a:cxnLst/>
              <a:rect r="r" b="b" t="t" l="l"/>
              <a:pathLst>
                <a:path h="2221779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2221779"/>
                  </a:lnTo>
                  <a:lnTo>
                    <a:pt x="0" y="222177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146" r="0" b="3235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4663440" cy="22313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9"/>
                </a:lnSpc>
              </a:pPr>
              <a:r>
                <a:rPr lang="en-US" sz="2274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Leakage Guard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97280" y="3977640"/>
            <a:ext cx="3497580" cy="1234440"/>
            <a:chOff x="0" y="0"/>
            <a:chExt cx="4663440" cy="1645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6634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07" r="0" b="-520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4663440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99"/>
                </a:lnSpc>
              </a:pPr>
              <a:r>
                <a:rPr lang="en-US" sz="1999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Automated suite proving no data leakage across the pipeline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120259" y="1842135"/>
            <a:ext cx="4065270" cy="3516630"/>
            <a:chOff x="0" y="0"/>
            <a:chExt cx="5420360" cy="4688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420360" cy="4688840"/>
            </a:xfrm>
            <a:custGeom>
              <a:avLst/>
              <a:gdLst/>
              <a:ahLst/>
              <a:cxnLst/>
              <a:rect r="r" b="b" t="t" l="l"/>
              <a:pathLst>
                <a:path h="4688840" w="5420360">
                  <a:moveTo>
                    <a:pt x="0" y="183896"/>
                  </a:moveTo>
                  <a:cubicBezTo>
                    <a:pt x="0" y="82296"/>
                    <a:pt x="82296" y="0"/>
                    <a:pt x="183896" y="0"/>
                  </a:cubicBezTo>
                  <a:lnTo>
                    <a:pt x="5236464" y="0"/>
                  </a:lnTo>
                  <a:cubicBezTo>
                    <a:pt x="5338064" y="0"/>
                    <a:pt x="5420360" y="82296"/>
                    <a:pt x="5420360" y="183896"/>
                  </a:cubicBezTo>
                  <a:lnTo>
                    <a:pt x="5420360" y="4504944"/>
                  </a:lnTo>
                  <a:cubicBezTo>
                    <a:pt x="5420360" y="4606544"/>
                    <a:pt x="5338064" y="4688840"/>
                    <a:pt x="5236464" y="4688840"/>
                  </a:cubicBezTo>
                  <a:lnTo>
                    <a:pt x="183896" y="4688840"/>
                  </a:lnTo>
                  <a:cubicBezTo>
                    <a:pt x="82296" y="4688840"/>
                    <a:pt x="0" y="4606544"/>
                    <a:pt x="0" y="450494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5431536" y="2153412"/>
            <a:ext cx="685800" cy="685800"/>
            <a:chOff x="0" y="0"/>
            <a:chExt cx="914400" cy="914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5623560" y="2345436"/>
            <a:ext cx="301752" cy="301752"/>
            <a:chOff x="0" y="0"/>
            <a:chExt cx="402336" cy="40233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201168"/>
                  </a:moveTo>
                  <a:cubicBezTo>
                    <a:pt x="0" y="90043"/>
                    <a:pt x="90043" y="0"/>
                    <a:pt x="201168" y="0"/>
                  </a:cubicBezTo>
                  <a:cubicBezTo>
                    <a:pt x="312293" y="0"/>
                    <a:pt x="402336" y="90043"/>
                    <a:pt x="402336" y="201168"/>
                  </a:cubicBezTo>
                  <a:cubicBezTo>
                    <a:pt x="402336" y="312293"/>
                    <a:pt x="312293" y="402336"/>
                    <a:pt x="201168" y="402336"/>
                  </a:cubicBezTo>
                  <a:cubicBezTo>
                    <a:pt x="90043" y="402336"/>
                    <a:pt x="0" y="312293"/>
                    <a:pt x="0" y="20116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5404104" y="2839212"/>
            <a:ext cx="3497580" cy="1663433"/>
            <a:chOff x="0" y="0"/>
            <a:chExt cx="4663440" cy="221791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663440" cy="2217911"/>
            </a:xfrm>
            <a:custGeom>
              <a:avLst/>
              <a:gdLst/>
              <a:ahLst/>
              <a:cxnLst/>
              <a:rect r="r" b="b" t="t" l="l"/>
              <a:pathLst>
                <a:path h="2217911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2217911"/>
                  </a:lnTo>
                  <a:lnTo>
                    <a:pt x="0" y="22179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171" r="0" b="3223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4663440" cy="22274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Statistical Health Index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5404104" y="3977640"/>
            <a:ext cx="3497580" cy="1234440"/>
            <a:chOff x="0" y="0"/>
            <a:chExt cx="4663440" cy="16459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6634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07" r="0" b="-520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4663440" cy="1684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0–100 indicator combining deviation, trend, EWMA, variance, correlation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427083" y="1842135"/>
            <a:ext cx="4065270" cy="3516630"/>
            <a:chOff x="0" y="0"/>
            <a:chExt cx="5420360" cy="46888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420360" cy="4688840"/>
            </a:xfrm>
            <a:custGeom>
              <a:avLst/>
              <a:gdLst/>
              <a:ahLst/>
              <a:cxnLst/>
              <a:rect r="r" b="b" t="t" l="l"/>
              <a:pathLst>
                <a:path h="4688840" w="5420360">
                  <a:moveTo>
                    <a:pt x="0" y="183896"/>
                  </a:moveTo>
                  <a:cubicBezTo>
                    <a:pt x="0" y="82296"/>
                    <a:pt x="82296" y="0"/>
                    <a:pt x="183896" y="0"/>
                  </a:cubicBezTo>
                  <a:lnTo>
                    <a:pt x="5236464" y="0"/>
                  </a:lnTo>
                  <a:cubicBezTo>
                    <a:pt x="5338064" y="0"/>
                    <a:pt x="5420360" y="82296"/>
                    <a:pt x="5420360" y="183896"/>
                  </a:cubicBezTo>
                  <a:lnTo>
                    <a:pt x="5420360" y="4504944"/>
                  </a:lnTo>
                  <a:cubicBezTo>
                    <a:pt x="5420360" y="4606544"/>
                    <a:pt x="5338064" y="4688840"/>
                    <a:pt x="5236464" y="4688840"/>
                  </a:cubicBezTo>
                  <a:lnTo>
                    <a:pt x="183896" y="4688840"/>
                  </a:lnTo>
                  <a:cubicBezTo>
                    <a:pt x="82296" y="4688840"/>
                    <a:pt x="0" y="4606544"/>
                    <a:pt x="0" y="450494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9738360" y="2153412"/>
            <a:ext cx="685800" cy="685800"/>
            <a:chOff x="0" y="0"/>
            <a:chExt cx="914400" cy="9144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9930384" y="2345436"/>
            <a:ext cx="301752" cy="301752"/>
            <a:chOff x="0" y="0"/>
            <a:chExt cx="402336" cy="40233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201168"/>
                  </a:moveTo>
                  <a:cubicBezTo>
                    <a:pt x="0" y="90043"/>
                    <a:pt x="90043" y="0"/>
                    <a:pt x="201168" y="0"/>
                  </a:cubicBezTo>
                  <a:cubicBezTo>
                    <a:pt x="312293" y="0"/>
                    <a:pt x="402336" y="90043"/>
                    <a:pt x="402336" y="201168"/>
                  </a:cubicBezTo>
                  <a:cubicBezTo>
                    <a:pt x="402336" y="312293"/>
                    <a:pt x="312293" y="402336"/>
                    <a:pt x="201168" y="402336"/>
                  </a:cubicBezTo>
                  <a:cubicBezTo>
                    <a:pt x="90043" y="402336"/>
                    <a:pt x="0" y="312293"/>
                    <a:pt x="0" y="20116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9710928" y="2768734"/>
            <a:ext cx="3497580" cy="1663433"/>
            <a:chOff x="0" y="0"/>
            <a:chExt cx="4663440" cy="221791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663440" cy="2217911"/>
            </a:xfrm>
            <a:custGeom>
              <a:avLst/>
              <a:gdLst/>
              <a:ahLst/>
              <a:cxnLst/>
              <a:rect r="r" b="b" t="t" l="l"/>
              <a:pathLst>
                <a:path h="2217911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2217911"/>
                  </a:lnTo>
                  <a:lnTo>
                    <a:pt x="0" y="22179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171" r="0" b="32232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4663440" cy="22274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7 Model Baselines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710928" y="3977640"/>
            <a:ext cx="3497580" cy="1234440"/>
            <a:chOff x="0" y="0"/>
            <a:chExt cx="4663440" cy="164592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6634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07" r="0" b="-5207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4663440" cy="1684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Threshold, Mahalanobis, LogReg, Random Forest, XGBoost, GRU, Hybrid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3733907" y="1842135"/>
            <a:ext cx="4065270" cy="3516630"/>
            <a:chOff x="0" y="0"/>
            <a:chExt cx="5420360" cy="46888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420360" cy="4688840"/>
            </a:xfrm>
            <a:custGeom>
              <a:avLst/>
              <a:gdLst/>
              <a:ahLst/>
              <a:cxnLst/>
              <a:rect r="r" b="b" t="t" l="l"/>
              <a:pathLst>
                <a:path h="4688840" w="5420360">
                  <a:moveTo>
                    <a:pt x="0" y="183896"/>
                  </a:moveTo>
                  <a:cubicBezTo>
                    <a:pt x="0" y="82296"/>
                    <a:pt x="82296" y="0"/>
                    <a:pt x="183896" y="0"/>
                  </a:cubicBezTo>
                  <a:lnTo>
                    <a:pt x="5236464" y="0"/>
                  </a:lnTo>
                  <a:cubicBezTo>
                    <a:pt x="5338064" y="0"/>
                    <a:pt x="5420360" y="82296"/>
                    <a:pt x="5420360" y="183896"/>
                  </a:cubicBezTo>
                  <a:lnTo>
                    <a:pt x="5420360" y="4504944"/>
                  </a:lnTo>
                  <a:cubicBezTo>
                    <a:pt x="5420360" y="4606544"/>
                    <a:pt x="5338064" y="4688840"/>
                    <a:pt x="5236464" y="4688840"/>
                  </a:cubicBezTo>
                  <a:lnTo>
                    <a:pt x="183896" y="4688840"/>
                  </a:lnTo>
                  <a:cubicBezTo>
                    <a:pt x="82296" y="4688840"/>
                    <a:pt x="0" y="4606544"/>
                    <a:pt x="0" y="450494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4045184" y="2153412"/>
            <a:ext cx="685800" cy="685800"/>
            <a:chOff x="0" y="0"/>
            <a:chExt cx="914400" cy="914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4237208" y="2345436"/>
            <a:ext cx="301752" cy="301752"/>
            <a:chOff x="0" y="0"/>
            <a:chExt cx="402336" cy="40233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201168"/>
                  </a:moveTo>
                  <a:cubicBezTo>
                    <a:pt x="0" y="90043"/>
                    <a:pt x="90043" y="0"/>
                    <a:pt x="201168" y="0"/>
                  </a:cubicBezTo>
                  <a:cubicBezTo>
                    <a:pt x="312293" y="0"/>
                    <a:pt x="402336" y="90043"/>
                    <a:pt x="402336" y="201168"/>
                  </a:cubicBezTo>
                  <a:cubicBezTo>
                    <a:pt x="402336" y="312293"/>
                    <a:pt x="312293" y="402336"/>
                    <a:pt x="201168" y="402336"/>
                  </a:cubicBezTo>
                  <a:cubicBezTo>
                    <a:pt x="90043" y="402336"/>
                    <a:pt x="0" y="312293"/>
                    <a:pt x="0" y="20116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4017752" y="2839212"/>
            <a:ext cx="3497580" cy="1663433"/>
            <a:chOff x="0" y="0"/>
            <a:chExt cx="4663440" cy="2217911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663440" cy="2217911"/>
            </a:xfrm>
            <a:custGeom>
              <a:avLst/>
              <a:gdLst/>
              <a:ahLst/>
              <a:cxnLst/>
              <a:rect r="r" b="b" t="t" l="l"/>
              <a:pathLst>
                <a:path h="2217911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2217911"/>
                  </a:lnTo>
                  <a:lnTo>
                    <a:pt x="0" y="22179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171" r="0" b="32232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4663440" cy="22274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Multi-Horizon Forecasting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4017752" y="3977640"/>
            <a:ext cx="3497580" cy="1234440"/>
            <a:chOff x="0" y="0"/>
            <a:chExt cx="4663440" cy="16459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6634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07" r="0" b="-5207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4663440" cy="1684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P(failure within h) for h in {10,20,30,40,50}, monotone-enforced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813435" y="5682615"/>
            <a:ext cx="4065270" cy="3516630"/>
            <a:chOff x="0" y="0"/>
            <a:chExt cx="5420360" cy="46888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420360" cy="4688840"/>
            </a:xfrm>
            <a:custGeom>
              <a:avLst/>
              <a:gdLst/>
              <a:ahLst/>
              <a:cxnLst/>
              <a:rect r="r" b="b" t="t" l="l"/>
              <a:pathLst>
                <a:path h="4688840" w="5420360">
                  <a:moveTo>
                    <a:pt x="0" y="183896"/>
                  </a:moveTo>
                  <a:cubicBezTo>
                    <a:pt x="0" y="82296"/>
                    <a:pt x="82296" y="0"/>
                    <a:pt x="183896" y="0"/>
                  </a:cubicBezTo>
                  <a:lnTo>
                    <a:pt x="5236464" y="0"/>
                  </a:lnTo>
                  <a:cubicBezTo>
                    <a:pt x="5338064" y="0"/>
                    <a:pt x="5420360" y="82296"/>
                    <a:pt x="5420360" y="183896"/>
                  </a:cubicBezTo>
                  <a:lnTo>
                    <a:pt x="5420360" y="4504944"/>
                  </a:lnTo>
                  <a:cubicBezTo>
                    <a:pt x="5420360" y="4606544"/>
                    <a:pt x="5338064" y="4688840"/>
                    <a:pt x="5236464" y="4688840"/>
                  </a:cubicBezTo>
                  <a:lnTo>
                    <a:pt x="183896" y="4688840"/>
                  </a:lnTo>
                  <a:cubicBezTo>
                    <a:pt x="82296" y="4688840"/>
                    <a:pt x="0" y="4606544"/>
                    <a:pt x="0" y="450494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1124712" y="5993892"/>
            <a:ext cx="685800" cy="685800"/>
            <a:chOff x="0" y="0"/>
            <a:chExt cx="914400" cy="9144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316736" y="6185916"/>
            <a:ext cx="301752" cy="301752"/>
            <a:chOff x="0" y="0"/>
            <a:chExt cx="402336" cy="40233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201168"/>
                  </a:moveTo>
                  <a:cubicBezTo>
                    <a:pt x="0" y="90043"/>
                    <a:pt x="90043" y="0"/>
                    <a:pt x="201168" y="0"/>
                  </a:cubicBezTo>
                  <a:cubicBezTo>
                    <a:pt x="312293" y="0"/>
                    <a:pt x="402336" y="90043"/>
                    <a:pt x="402336" y="201168"/>
                  </a:cubicBezTo>
                  <a:cubicBezTo>
                    <a:pt x="402336" y="312293"/>
                    <a:pt x="312293" y="402336"/>
                    <a:pt x="201168" y="402336"/>
                  </a:cubicBezTo>
                  <a:cubicBezTo>
                    <a:pt x="90043" y="402336"/>
                    <a:pt x="0" y="312293"/>
                    <a:pt x="0" y="20116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1097280" y="6609214"/>
            <a:ext cx="3497580" cy="1663433"/>
            <a:chOff x="0" y="0"/>
            <a:chExt cx="4663440" cy="2217911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663440" cy="2217911"/>
            </a:xfrm>
            <a:custGeom>
              <a:avLst/>
              <a:gdLst/>
              <a:ahLst/>
              <a:cxnLst/>
              <a:rect r="r" b="b" t="t" l="l"/>
              <a:pathLst>
                <a:path h="2217911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2217911"/>
                  </a:lnTo>
                  <a:lnTo>
                    <a:pt x="0" y="22179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171" r="0" b="32232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9525"/>
              <a:ext cx="4663440" cy="22274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Conformal RUL Intervals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097280" y="7818120"/>
            <a:ext cx="3497580" cy="1234440"/>
            <a:chOff x="0" y="0"/>
            <a:chExt cx="4663440" cy="16459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6634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07" r="0" b="-5207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4663440" cy="1684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Distribution-free prediction intervals with coverage guarantees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5120259" y="5682615"/>
            <a:ext cx="4065270" cy="3516630"/>
            <a:chOff x="0" y="0"/>
            <a:chExt cx="5420360" cy="46888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420360" cy="4688840"/>
            </a:xfrm>
            <a:custGeom>
              <a:avLst/>
              <a:gdLst/>
              <a:ahLst/>
              <a:cxnLst/>
              <a:rect r="r" b="b" t="t" l="l"/>
              <a:pathLst>
                <a:path h="4688840" w="5420360">
                  <a:moveTo>
                    <a:pt x="0" y="183896"/>
                  </a:moveTo>
                  <a:cubicBezTo>
                    <a:pt x="0" y="82296"/>
                    <a:pt x="82296" y="0"/>
                    <a:pt x="183896" y="0"/>
                  </a:cubicBezTo>
                  <a:lnTo>
                    <a:pt x="5236464" y="0"/>
                  </a:lnTo>
                  <a:cubicBezTo>
                    <a:pt x="5338064" y="0"/>
                    <a:pt x="5420360" y="82296"/>
                    <a:pt x="5420360" y="183896"/>
                  </a:cubicBezTo>
                  <a:lnTo>
                    <a:pt x="5420360" y="4504944"/>
                  </a:lnTo>
                  <a:cubicBezTo>
                    <a:pt x="5420360" y="4606544"/>
                    <a:pt x="5338064" y="4688840"/>
                    <a:pt x="5236464" y="4688840"/>
                  </a:cubicBezTo>
                  <a:lnTo>
                    <a:pt x="183896" y="4688840"/>
                  </a:lnTo>
                  <a:cubicBezTo>
                    <a:pt x="82296" y="4688840"/>
                    <a:pt x="0" y="4606544"/>
                    <a:pt x="0" y="450494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5431536" y="5993892"/>
            <a:ext cx="685800" cy="685800"/>
            <a:chOff x="0" y="0"/>
            <a:chExt cx="914400" cy="9144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5623560" y="6185916"/>
            <a:ext cx="301752" cy="301752"/>
            <a:chOff x="0" y="0"/>
            <a:chExt cx="402336" cy="402336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201168"/>
                  </a:moveTo>
                  <a:cubicBezTo>
                    <a:pt x="0" y="90043"/>
                    <a:pt x="90043" y="0"/>
                    <a:pt x="201168" y="0"/>
                  </a:cubicBezTo>
                  <a:cubicBezTo>
                    <a:pt x="312293" y="0"/>
                    <a:pt x="402336" y="90043"/>
                    <a:pt x="402336" y="201168"/>
                  </a:cubicBezTo>
                  <a:cubicBezTo>
                    <a:pt x="402336" y="312293"/>
                    <a:pt x="312293" y="402336"/>
                    <a:pt x="201168" y="402336"/>
                  </a:cubicBezTo>
                  <a:cubicBezTo>
                    <a:pt x="90043" y="402336"/>
                    <a:pt x="0" y="312293"/>
                    <a:pt x="0" y="20116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5404104" y="6609214"/>
            <a:ext cx="3497580" cy="1663433"/>
            <a:chOff x="0" y="0"/>
            <a:chExt cx="4663440" cy="2217911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4663440" cy="2217911"/>
            </a:xfrm>
            <a:custGeom>
              <a:avLst/>
              <a:gdLst/>
              <a:ahLst/>
              <a:cxnLst/>
              <a:rect r="r" b="b" t="t" l="l"/>
              <a:pathLst>
                <a:path h="2217911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2217911"/>
                  </a:lnTo>
                  <a:lnTo>
                    <a:pt x="0" y="22179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171" r="0" b="32232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9525"/>
              <a:ext cx="4663440" cy="22274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Probability Calibration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5404104" y="7818120"/>
            <a:ext cx="3497580" cy="1234440"/>
            <a:chOff x="0" y="0"/>
            <a:chExt cx="4663440" cy="164592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6634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07" r="0" b="-5207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38100"/>
              <a:ext cx="4663440" cy="1684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Isotonic / Platt calibration, reliability diagrams, Brier, ECE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9427083" y="5682615"/>
            <a:ext cx="4065270" cy="3516630"/>
            <a:chOff x="0" y="0"/>
            <a:chExt cx="5420360" cy="46888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5420360" cy="4688840"/>
            </a:xfrm>
            <a:custGeom>
              <a:avLst/>
              <a:gdLst/>
              <a:ahLst/>
              <a:cxnLst/>
              <a:rect r="r" b="b" t="t" l="l"/>
              <a:pathLst>
                <a:path h="4688840" w="5420360">
                  <a:moveTo>
                    <a:pt x="0" y="183896"/>
                  </a:moveTo>
                  <a:cubicBezTo>
                    <a:pt x="0" y="82296"/>
                    <a:pt x="82296" y="0"/>
                    <a:pt x="183896" y="0"/>
                  </a:cubicBezTo>
                  <a:lnTo>
                    <a:pt x="5236464" y="0"/>
                  </a:lnTo>
                  <a:cubicBezTo>
                    <a:pt x="5338064" y="0"/>
                    <a:pt x="5420360" y="82296"/>
                    <a:pt x="5420360" y="183896"/>
                  </a:cubicBezTo>
                  <a:lnTo>
                    <a:pt x="5420360" y="4504944"/>
                  </a:lnTo>
                  <a:cubicBezTo>
                    <a:pt x="5420360" y="4606544"/>
                    <a:pt x="5338064" y="4688840"/>
                    <a:pt x="5236464" y="4688840"/>
                  </a:cubicBezTo>
                  <a:lnTo>
                    <a:pt x="183896" y="4688840"/>
                  </a:lnTo>
                  <a:cubicBezTo>
                    <a:pt x="82296" y="4688840"/>
                    <a:pt x="0" y="4606544"/>
                    <a:pt x="0" y="450494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80" id="80"/>
          <p:cNvGrpSpPr/>
          <p:nvPr/>
        </p:nvGrpSpPr>
        <p:grpSpPr>
          <a:xfrm rot="0">
            <a:off x="9738360" y="5993892"/>
            <a:ext cx="685800" cy="685800"/>
            <a:chOff x="0" y="0"/>
            <a:chExt cx="914400" cy="91440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9930384" y="6185916"/>
            <a:ext cx="301752" cy="301752"/>
            <a:chOff x="0" y="0"/>
            <a:chExt cx="402336" cy="40233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201168"/>
                  </a:moveTo>
                  <a:cubicBezTo>
                    <a:pt x="0" y="90043"/>
                    <a:pt x="90043" y="0"/>
                    <a:pt x="201168" y="0"/>
                  </a:cubicBezTo>
                  <a:cubicBezTo>
                    <a:pt x="312293" y="0"/>
                    <a:pt x="402336" y="90043"/>
                    <a:pt x="402336" y="201168"/>
                  </a:cubicBezTo>
                  <a:cubicBezTo>
                    <a:pt x="402336" y="312293"/>
                    <a:pt x="312293" y="402336"/>
                    <a:pt x="201168" y="402336"/>
                  </a:cubicBezTo>
                  <a:cubicBezTo>
                    <a:pt x="90043" y="402336"/>
                    <a:pt x="0" y="312293"/>
                    <a:pt x="0" y="20116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4" id="84"/>
          <p:cNvGrpSpPr/>
          <p:nvPr/>
        </p:nvGrpSpPr>
        <p:grpSpPr>
          <a:xfrm rot="0">
            <a:off x="9737979" y="6609214"/>
            <a:ext cx="3497580" cy="1663433"/>
            <a:chOff x="0" y="0"/>
            <a:chExt cx="4663440" cy="2217911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4663440" cy="2217911"/>
            </a:xfrm>
            <a:custGeom>
              <a:avLst/>
              <a:gdLst/>
              <a:ahLst/>
              <a:cxnLst/>
              <a:rect r="r" b="b" t="t" l="l"/>
              <a:pathLst>
                <a:path h="2217911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2217911"/>
                  </a:lnTo>
                  <a:lnTo>
                    <a:pt x="0" y="22179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171" r="0" b="32232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-9525"/>
              <a:ext cx="4663440" cy="22274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Explainability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9710928" y="7818120"/>
            <a:ext cx="3497580" cy="1234440"/>
            <a:chOff x="0" y="0"/>
            <a:chExt cx="4663440" cy="164592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46634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07" r="0" b="-5207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4663440" cy="1684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Evidence cards, group occlusion, risk-change decomposition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3733907" y="5682615"/>
            <a:ext cx="4065270" cy="3516630"/>
            <a:chOff x="0" y="0"/>
            <a:chExt cx="5420360" cy="468884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5420360" cy="4688840"/>
            </a:xfrm>
            <a:custGeom>
              <a:avLst/>
              <a:gdLst/>
              <a:ahLst/>
              <a:cxnLst/>
              <a:rect r="r" b="b" t="t" l="l"/>
              <a:pathLst>
                <a:path h="4688840" w="5420360">
                  <a:moveTo>
                    <a:pt x="0" y="183896"/>
                  </a:moveTo>
                  <a:cubicBezTo>
                    <a:pt x="0" y="82296"/>
                    <a:pt x="82296" y="0"/>
                    <a:pt x="183896" y="0"/>
                  </a:cubicBezTo>
                  <a:lnTo>
                    <a:pt x="5236464" y="0"/>
                  </a:lnTo>
                  <a:cubicBezTo>
                    <a:pt x="5338064" y="0"/>
                    <a:pt x="5420360" y="82296"/>
                    <a:pt x="5420360" y="183896"/>
                  </a:cubicBezTo>
                  <a:lnTo>
                    <a:pt x="5420360" y="4504944"/>
                  </a:lnTo>
                  <a:cubicBezTo>
                    <a:pt x="5420360" y="4606544"/>
                    <a:pt x="5338064" y="4688840"/>
                    <a:pt x="5236464" y="4688840"/>
                  </a:cubicBezTo>
                  <a:lnTo>
                    <a:pt x="183896" y="4688840"/>
                  </a:lnTo>
                  <a:cubicBezTo>
                    <a:pt x="82296" y="4688840"/>
                    <a:pt x="0" y="4606544"/>
                    <a:pt x="0" y="4504944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92" id="92"/>
          <p:cNvGrpSpPr/>
          <p:nvPr/>
        </p:nvGrpSpPr>
        <p:grpSpPr>
          <a:xfrm rot="0">
            <a:off x="14045184" y="5993892"/>
            <a:ext cx="685800" cy="685800"/>
            <a:chOff x="0" y="0"/>
            <a:chExt cx="914400" cy="91440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94" id="94"/>
          <p:cNvGrpSpPr/>
          <p:nvPr/>
        </p:nvGrpSpPr>
        <p:grpSpPr>
          <a:xfrm rot="0">
            <a:off x="14237208" y="6185916"/>
            <a:ext cx="301752" cy="301752"/>
            <a:chOff x="0" y="0"/>
            <a:chExt cx="402336" cy="402336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201168"/>
                  </a:moveTo>
                  <a:cubicBezTo>
                    <a:pt x="0" y="90043"/>
                    <a:pt x="90043" y="0"/>
                    <a:pt x="201168" y="0"/>
                  </a:cubicBezTo>
                  <a:cubicBezTo>
                    <a:pt x="312293" y="0"/>
                    <a:pt x="402336" y="90043"/>
                    <a:pt x="402336" y="201168"/>
                  </a:cubicBezTo>
                  <a:cubicBezTo>
                    <a:pt x="402336" y="312293"/>
                    <a:pt x="312293" y="402336"/>
                    <a:pt x="201168" y="402336"/>
                  </a:cubicBezTo>
                  <a:cubicBezTo>
                    <a:pt x="90043" y="402336"/>
                    <a:pt x="0" y="312293"/>
                    <a:pt x="0" y="20116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14017752" y="6609214"/>
            <a:ext cx="3497580" cy="1663433"/>
            <a:chOff x="0" y="0"/>
            <a:chExt cx="4663440" cy="221791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4663440" cy="2217911"/>
            </a:xfrm>
            <a:custGeom>
              <a:avLst/>
              <a:gdLst/>
              <a:ahLst/>
              <a:cxnLst/>
              <a:rect r="r" b="b" t="t" l="l"/>
              <a:pathLst>
                <a:path h="2217911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2217911"/>
                  </a:lnTo>
                  <a:lnTo>
                    <a:pt x="0" y="221791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171" r="0" b="32232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9525"/>
              <a:ext cx="4663440" cy="22274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What-If Simulator</a:t>
              </a:r>
            </a:p>
          </p:txBody>
        </p:sp>
      </p:grpSp>
      <p:grpSp>
        <p:nvGrpSpPr>
          <p:cNvPr name="Group 99" id="99"/>
          <p:cNvGrpSpPr/>
          <p:nvPr/>
        </p:nvGrpSpPr>
        <p:grpSpPr>
          <a:xfrm rot="0">
            <a:off x="14017752" y="7818120"/>
            <a:ext cx="3497580" cy="1234440"/>
            <a:chOff x="0" y="0"/>
            <a:chExt cx="4663440" cy="164592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46634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4663440">
                  <a:moveTo>
                    <a:pt x="0" y="0"/>
                  </a:moveTo>
                  <a:lnTo>
                    <a:pt x="4663440" y="0"/>
                  </a:lnTo>
                  <a:lnTo>
                    <a:pt x="4663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07" r="0" b="-5207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38100"/>
              <a:ext cx="4663440" cy="1684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Perturb sensors, recompute, re-predict — clearly labelled simulation</a:t>
              </a:r>
            </a:p>
          </p:txBody>
        </p:sp>
      </p:grpSp>
      <p:grpSp>
        <p:nvGrpSpPr>
          <p:cNvPr name="Group 102" id="102"/>
          <p:cNvGrpSpPr/>
          <p:nvPr/>
        </p:nvGrpSpPr>
        <p:grpSpPr>
          <a:xfrm rot="0">
            <a:off x="685800" y="9710928"/>
            <a:ext cx="4114800" cy="411480"/>
            <a:chOff x="0" y="0"/>
            <a:chExt cx="5486400" cy="548640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STAT-TWIN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6915943" y="9710928"/>
            <a:ext cx="685800" cy="411480"/>
            <a:chOff x="0" y="0"/>
            <a:chExt cx="91440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617220"/>
            <a:ext cx="15087600" cy="754380"/>
            <a:chOff x="0" y="0"/>
            <a:chExt cx="2011680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11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011680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sz="405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The Statistical Health Index (SHI)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371600"/>
            <a:ext cx="15087600" cy="548640"/>
            <a:chOff x="0" y="0"/>
            <a:chExt cx="20116800" cy="7315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731520"/>
            </a:xfrm>
            <a:custGeom>
              <a:avLst/>
              <a:gdLst/>
              <a:ahLst/>
              <a:cxnLst/>
              <a:rect r="r" b="b" t="t" l="l"/>
              <a:pathLst>
                <a:path h="73152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838" r="0" b="-48583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0116800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79"/>
                </a:lnSpc>
              </a:pPr>
              <a:r>
                <a:rPr lang="en-US" sz="2149" i="true">
                  <a:solidFill>
                    <a:srgbClr val="5B6B7A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 0–100 health indicator built from five statistical evidence components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2194560"/>
            <a:ext cx="4526280" cy="6446520"/>
            <a:chOff x="0" y="0"/>
            <a:chExt cx="6035040" cy="85953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35040" cy="8595361"/>
            </a:xfrm>
            <a:custGeom>
              <a:avLst/>
              <a:gdLst/>
              <a:ahLst/>
              <a:cxnLst/>
              <a:rect r="r" b="b" t="t" l="l"/>
              <a:pathLst>
                <a:path h="8595361" w="603504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5815584" y="0"/>
                  </a:lnTo>
                  <a:cubicBezTo>
                    <a:pt x="5936742" y="0"/>
                    <a:pt x="6035040" y="98298"/>
                    <a:pt x="6035040" y="219456"/>
                  </a:cubicBezTo>
                  <a:lnTo>
                    <a:pt x="6035040" y="8375904"/>
                  </a:lnTo>
                  <a:cubicBezTo>
                    <a:pt x="6035040" y="8497062"/>
                    <a:pt x="5936742" y="8595361"/>
                    <a:pt x="5815584" y="8595361"/>
                  </a:cubicBezTo>
                  <a:lnTo>
                    <a:pt x="219456" y="8595361"/>
                  </a:lnTo>
                  <a:cubicBezTo>
                    <a:pt x="98298" y="8595360"/>
                    <a:pt x="0" y="8497062"/>
                    <a:pt x="0" y="8375904"/>
                  </a:cubicBezTo>
                  <a:close/>
                </a:path>
              </a:pathLst>
            </a:custGeom>
            <a:solidFill>
              <a:srgbClr val="21295C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3223260"/>
            <a:ext cx="4526280" cy="1508760"/>
            <a:chOff x="0" y="0"/>
            <a:chExt cx="6035040" cy="20116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6035040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280"/>
                </a:lnSpc>
              </a:pPr>
              <a:r>
                <a:rPr lang="en-US" sz="6900" b="true">
                  <a:solidFill>
                    <a:srgbClr val="F5A623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0–100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22960" y="4663440"/>
            <a:ext cx="4526280" cy="480060"/>
            <a:chOff x="0" y="0"/>
            <a:chExt cx="6035040" cy="6400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035040" cy="640080"/>
            </a:xfrm>
            <a:custGeom>
              <a:avLst/>
              <a:gdLst/>
              <a:ahLst/>
              <a:cxnLst/>
              <a:rect r="r" b="b" t="t" l="l"/>
              <a:pathLst>
                <a:path h="6400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3716" r="0" b="-13371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6035040" cy="6686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 spc="29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HEALTH SCORE</a:t>
              </a:r>
            </a:p>
          </p:txBody>
        </p:sp>
      </p:grpSp>
      <p:sp>
        <p:nvSpPr>
          <p:cNvPr name="AutoShape 16" id="16"/>
          <p:cNvSpPr/>
          <p:nvPr/>
        </p:nvSpPr>
        <p:spPr>
          <a:xfrm rot="32220">
            <a:off x="1562986" y="5339715"/>
            <a:ext cx="3046228" cy="0"/>
          </a:xfrm>
          <a:prstGeom prst="line">
            <a:avLst/>
          </a:prstGeom>
          <a:ln cap="rnd" w="19050">
            <a:solidFill>
              <a:srgbClr val="1C729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1325880" y="5621655"/>
            <a:ext cx="3520440" cy="2276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69"/>
              </a:lnSpc>
            </a:pPr>
            <a:r>
              <a:rPr lang="en-US" sz="2474" i="true">
                <a:solidFill>
                  <a:srgbClr val="C7D2DC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Each component is normalized to [0,1] via a train-fitted ECDF mapping; sensor aggregation uses learned informativeness weights.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5682615" y="2185035"/>
            <a:ext cx="11746230" cy="1116330"/>
            <a:chOff x="0" y="0"/>
            <a:chExt cx="15661640" cy="14884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5661639" cy="1488440"/>
            </a:xfrm>
            <a:custGeom>
              <a:avLst/>
              <a:gdLst/>
              <a:ahLst/>
              <a:cxnLst/>
              <a:rect r="r" b="b" t="t" l="l"/>
              <a:pathLst>
                <a:path h="1488440" w="15661639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15512796" y="0"/>
                  </a:lnTo>
                  <a:cubicBezTo>
                    <a:pt x="15594964" y="0"/>
                    <a:pt x="15661639" y="66675"/>
                    <a:pt x="15661639" y="148844"/>
                  </a:cubicBezTo>
                  <a:lnTo>
                    <a:pt x="15661639" y="1339596"/>
                  </a:lnTo>
                  <a:cubicBezTo>
                    <a:pt x="15661639" y="1421765"/>
                    <a:pt x="15594964" y="1488440"/>
                    <a:pt x="1551279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6035040" y="2468880"/>
            <a:ext cx="548640" cy="548640"/>
            <a:chOff x="0" y="0"/>
            <a:chExt cx="73152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6926580" y="2304288"/>
            <a:ext cx="2125980" cy="877824"/>
            <a:chOff x="0" y="0"/>
            <a:chExt cx="2834640" cy="117043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834640" cy="1170432"/>
            </a:xfrm>
            <a:custGeom>
              <a:avLst/>
              <a:gdLst/>
              <a:ahLst/>
              <a:cxnLst/>
              <a:rect r="r" b="b" t="t" l="l"/>
              <a:pathLst>
                <a:path h="1170432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76" t="0" r="-2976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2834640" cy="11704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Deviation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9189720" y="2304288"/>
            <a:ext cx="8023860" cy="877824"/>
            <a:chOff x="0" y="0"/>
            <a:chExt cx="10698480" cy="117043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984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10698480">
                  <a:moveTo>
                    <a:pt x="0" y="0"/>
                  </a:moveTo>
                  <a:lnTo>
                    <a:pt x="10698480" y="0"/>
                  </a:lnTo>
                  <a:lnTo>
                    <a:pt x="1069848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8105" r="0" b="-128105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1069848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Signed z-score in the sensor's learned degradation direction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5682615" y="3474339"/>
            <a:ext cx="11746230" cy="1116330"/>
            <a:chOff x="0" y="0"/>
            <a:chExt cx="15661640" cy="14884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5661639" cy="1488440"/>
            </a:xfrm>
            <a:custGeom>
              <a:avLst/>
              <a:gdLst/>
              <a:ahLst/>
              <a:cxnLst/>
              <a:rect r="r" b="b" t="t" l="l"/>
              <a:pathLst>
                <a:path h="1488440" w="15661639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15512796" y="0"/>
                  </a:lnTo>
                  <a:cubicBezTo>
                    <a:pt x="15594964" y="0"/>
                    <a:pt x="15661639" y="66675"/>
                    <a:pt x="15661639" y="148844"/>
                  </a:cubicBezTo>
                  <a:lnTo>
                    <a:pt x="15661639" y="1339596"/>
                  </a:lnTo>
                  <a:cubicBezTo>
                    <a:pt x="15661639" y="1421765"/>
                    <a:pt x="15594964" y="1488440"/>
                    <a:pt x="1551279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6035040" y="3758184"/>
            <a:ext cx="548640" cy="548640"/>
            <a:chOff x="0" y="0"/>
            <a:chExt cx="731520" cy="7315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6926580" y="3593592"/>
            <a:ext cx="2125980" cy="877824"/>
            <a:chOff x="0" y="0"/>
            <a:chExt cx="2834640" cy="117043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834640" cy="1170432"/>
            </a:xfrm>
            <a:custGeom>
              <a:avLst/>
              <a:gdLst/>
              <a:ahLst/>
              <a:cxnLst/>
              <a:rect r="r" b="b" t="t" l="l"/>
              <a:pathLst>
                <a:path h="1170432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76" t="0" r="-2976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2834640" cy="11704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Trend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189720" y="3593592"/>
            <a:ext cx="8023860" cy="877824"/>
            <a:chOff x="0" y="0"/>
            <a:chExt cx="10698480" cy="1170432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6984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10698480">
                  <a:moveTo>
                    <a:pt x="0" y="0"/>
                  </a:moveTo>
                  <a:lnTo>
                    <a:pt x="10698480" y="0"/>
                  </a:lnTo>
                  <a:lnTo>
                    <a:pt x="1069848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8105" r="0" b="-12810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69848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Signed slope over the window, normalized by baseline sigma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5682615" y="4763643"/>
            <a:ext cx="11746230" cy="1116330"/>
            <a:chOff x="0" y="0"/>
            <a:chExt cx="15661640" cy="14884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5661639" cy="1488440"/>
            </a:xfrm>
            <a:custGeom>
              <a:avLst/>
              <a:gdLst/>
              <a:ahLst/>
              <a:cxnLst/>
              <a:rect r="r" b="b" t="t" l="l"/>
              <a:pathLst>
                <a:path h="1488440" w="15661639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15512796" y="0"/>
                  </a:lnTo>
                  <a:cubicBezTo>
                    <a:pt x="15594964" y="0"/>
                    <a:pt x="15661639" y="66675"/>
                    <a:pt x="15661639" y="148844"/>
                  </a:cubicBezTo>
                  <a:lnTo>
                    <a:pt x="15661639" y="1339596"/>
                  </a:lnTo>
                  <a:cubicBezTo>
                    <a:pt x="15661639" y="1421765"/>
                    <a:pt x="15594964" y="1488440"/>
                    <a:pt x="1551279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6035040" y="5047488"/>
            <a:ext cx="548640" cy="548640"/>
            <a:chOff x="0" y="0"/>
            <a:chExt cx="731520" cy="73152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6926580" y="4882896"/>
            <a:ext cx="2125980" cy="877824"/>
            <a:chOff x="0" y="0"/>
            <a:chExt cx="2834640" cy="117043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834640" cy="1170432"/>
            </a:xfrm>
            <a:custGeom>
              <a:avLst/>
              <a:gdLst/>
              <a:ahLst/>
              <a:cxnLst/>
              <a:rect r="r" b="b" t="t" l="l"/>
              <a:pathLst>
                <a:path h="1170432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76" t="0" r="-2976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2834640" cy="11704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EWMA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9189720" y="4882896"/>
            <a:ext cx="8023860" cy="877824"/>
            <a:chOff x="0" y="0"/>
            <a:chExt cx="10698480" cy="1170432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6984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10698480">
                  <a:moveTo>
                    <a:pt x="0" y="0"/>
                  </a:moveTo>
                  <a:lnTo>
                    <a:pt x="10698480" y="0"/>
                  </a:lnTo>
                  <a:lnTo>
                    <a:pt x="1069848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8105" r="0" b="-128105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47625"/>
              <a:ext cx="1069848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Exponentially weighted deviation from baseline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5682615" y="6052947"/>
            <a:ext cx="11746230" cy="1116330"/>
            <a:chOff x="0" y="0"/>
            <a:chExt cx="15661640" cy="14884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5661639" cy="1488440"/>
            </a:xfrm>
            <a:custGeom>
              <a:avLst/>
              <a:gdLst/>
              <a:ahLst/>
              <a:cxnLst/>
              <a:rect r="r" b="b" t="t" l="l"/>
              <a:pathLst>
                <a:path h="1488440" w="15661639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15512796" y="0"/>
                  </a:lnTo>
                  <a:cubicBezTo>
                    <a:pt x="15594964" y="0"/>
                    <a:pt x="15661639" y="66675"/>
                    <a:pt x="15661639" y="148844"/>
                  </a:cubicBezTo>
                  <a:lnTo>
                    <a:pt x="15661639" y="1339596"/>
                  </a:lnTo>
                  <a:cubicBezTo>
                    <a:pt x="15661639" y="1421765"/>
                    <a:pt x="15594964" y="1488440"/>
                    <a:pt x="1551279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6035040" y="6336792"/>
            <a:ext cx="548640" cy="548640"/>
            <a:chOff x="0" y="0"/>
            <a:chExt cx="731520" cy="7315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6926580" y="6172200"/>
            <a:ext cx="2125980" cy="877824"/>
            <a:chOff x="0" y="0"/>
            <a:chExt cx="2834640" cy="1170432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834640" cy="1170432"/>
            </a:xfrm>
            <a:custGeom>
              <a:avLst/>
              <a:gdLst/>
              <a:ahLst/>
              <a:cxnLst/>
              <a:rect r="r" b="b" t="t" l="l"/>
              <a:pathLst>
                <a:path h="1170432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76" t="0" r="-2976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2834640" cy="11704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Variance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189720" y="6172200"/>
            <a:ext cx="8023860" cy="877824"/>
            <a:chOff x="0" y="0"/>
            <a:chExt cx="10698480" cy="1170432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6984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10698480">
                  <a:moveTo>
                    <a:pt x="0" y="0"/>
                  </a:moveTo>
                  <a:lnTo>
                    <a:pt x="10698480" y="0"/>
                  </a:lnTo>
                  <a:lnTo>
                    <a:pt x="1069848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8105" r="0" b="-128105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47625"/>
              <a:ext cx="1069848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Log variance ratio vs. baseline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5682615" y="7342251"/>
            <a:ext cx="11746230" cy="1116330"/>
            <a:chOff x="0" y="0"/>
            <a:chExt cx="15661640" cy="14884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5661639" cy="1488440"/>
            </a:xfrm>
            <a:custGeom>
              <a:avLst/>
              <a:gdLst/>
              <a:ahLst/>
              <a:cxnLst/>
              <a:rect r="r" b="b" t="t" l="l"/>
              <a:pathLst>
                <a:path h="1488440" w="15661639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15512796" y="0"/>
                  </a:lnTo>
                  <a:cubicBezTo>
                    <a:pt x="15594964" y="0"/>
                    <a:pt x="15661639" y="66675"/>
                    <a:pt x="15661639" y="148844"/>
                  </a:cubicBezTo>
                  <a:lnTo>
                    <a:pt x="15661639" y="1339596"/>
                  </a:lnTo>
                  <a:cubicBezTo>
                    <a:pt x="15661639" y="1421765"/>
                    <a:pt x="15594964" y="1488440"/>
                    <a:pt x="15512796" y="1488440"/>
                  </a:cubicBezTo>
                  <a:lnTo>
                    <a:pt x="148844" y="1488440"/>
                  </a:lnTo>
                  <a:cubicBezTo>
                    <a:pt x="66675" y="1488440"/>
                    <a:pt x="0" y="1421765"/>
                    <a:pt x="0" y="1339596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6035040" y="7626096"/>
            <a:ext cx="548640" cy="548640"/>
            <a:chOff x="0" y="0"/>
            <a:chExt cx="731520" cy="73152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cubicBezTo>
                    <a:pt x="567817" y="0"/>
                    <a:pt x="731520" y="163703"/>
                    <a:pt x="731520" y="365760"/>
                  </a:cubicBezTo>
                  <a:cubicBezTo>
                    <a:pt x="731520" y="567817"/>
                    <a:pt x="567817" y="731520"/>
                    <a:pt x="365760" y="731520"/>
                  </a:cubicBezTo>
                  <a:cubicBezTo>
                    <a:pt x="163703" y="731520"/>
                    <a:pt x="0" y="567817"/>
                    <a:pt x="0" y="365760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926580" y="7461504"/>
            <a:ext cx="2125980" cy="877824"/>
            <a:chOff x="0" y="0"/>
            <a:chExt cx="2834640" cy="1170432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834640" cy="1170432"/>
            </a:xfrm>
            <a:custGeom>
              <a:avLst/>
              <a:gdLst/>
              <a:ahLst/>
              <a:cxnLst/>
              <a:rect r="r" b="b" t="t" l="l"/>
              <a:pathLst>
                <a:path h="1170432" w="2834640">
                  <a:moveTo>
                    <a:pt x="0" y="0"/>
                  </a:moveTo>
                  <a:lnTo>
                    <a:pt x="2834640" y="0"/>
                  </a:lnTo>
                  <a:lnTo>
                    <a:pt x="283464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76" t="0" r="-2976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2834640" cy="11704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Correlation shift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9189720" y="7461504"/>
            <a:ext cx="8023860" cy="877824"/>
            <a:chOff x="0" y="0"/>
            <a:chExt cx="10698480" cy="117043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0698480" cy="1170432"/>
            </a:xfrm>
            <a:custGeom>
              <a:avLst/>
              <a:gdLst/>
              <a:ahLst/>
              <a:cxnLst/>
              <a:rect r="r" b="b" t="t" l="l"/>
              <a:pathLst>
                <a:path h="1170432" w="10698480">
                  <a:moveTo>
                    <a:pt x="0" y="0"/>
                  </a:moveTo>
                  <a:lnTo>
                    <a:pt x="10698480" y="0"/>
                  </a:lnTo>
                  <a:lnTo>
                    <a:pt x="10698480" y="1170432"/>
                  </a:lnTo>
                  <a:lnTo>
                    <a:pt x="0" y="11704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8105" r="0" b="-128105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47625"/>
              <a:ext cx="10698480" cy="12180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4"/>
                </a:lnSpc>
              </a:pPr>
              <a:r>
                <a:rPr lang="en-US" sz="227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Correlation-structure change (Frobenius norm)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685800" y="9710928"/>
            <a:ext cx="4114800" cy="411480"/>
            <a:chOff x="0" y="0"/>
            <a:chExt cx="548640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STAT-TWIN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6915943" y="9710928"/>
            <a:ext cx="685800" cy="411480"/>
            <a:chOff x="0" y="0"/>
            <a:chExt cx="91440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685800"/>
            <a:ext cx="10972800" cy="754380"/>
            <a:chOff x="0" y="0"/>
            <a:chExt cx="1463040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3418" r="0" b="-233418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4630400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Health States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440180"/>
            <a:ext cx="16184880" cy="548640"/>
            <a:chOff x="0" y="0"/>
            <a:chExt cx="21579840" cy="7315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579839" cy="731520"/>
            </a:xfrm>
            <a:custGeom>
              <a:avLst/>
              <a:gdLst/>
              <a:ahLst/>
              <a:cxnLst/>
              <a:rect r="r" b="b" t="t" l="l"/>
              <a:pathLst>
                <a:path h="731520" w="21579839">
                  <a:moveTo>
                    <a:pt x="0" y="0"/>
                  </a:moveTo>
                  <a:lnTo>
                    <a:pt x="21579839" y="0"/>
                  </a:lnTo>
                  <a:lnTo>
                    <a:pt x="21579839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4808" r="0" b="-52480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57984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59"/>
                </a:lnSpc>
              </a:pPr>
              <a:r>
                <a:rPr lang="en-US" sz="2549" i="true">
                  <a:solidFill>
                    <a:srgbClr val="9FB0B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Five states with hysteresis — persistence of p cycles is required before a state change is confirmed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08672" y="2866072"/>
            <a:ext cx="3040609" cy="4280535"/>
            <a:chOff x="0" y="0"/>
            <a:chExt cx="4054145" cy="57073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054221" cy="5707380"/>
            </a:xfrm>
            <a:custGeom>
              <a:avLst/>
              <a:gdLst/>
              <a:ahLst/>
              <a:cxnLst/>
              <a:rect r="r" b="b" t="t" l="l"/>
              <a:pathLst>
                <a:path h="5707380" w="4054221">
                  <a:moveTo>
                    <a:pt x="0" y="184658"/>
                  </a:moveTo>
                  <a:cubicBezTo>
                    <a:pt x="0" y="82677"/>
                    <a:pt x="82677" y="0"/>
                    <a:pt x="184658" y="0"/>
                  </a:cubicBezTo>
                  <a:lnTo>
                    <a:pt x="3869563" y="0"/>
                  </a:lnTo>
                  <a:cubicBezTo>
                    <a:pt x="3971544" y="0"/>
                    <a:pt x="4054221" y="82677"/>
                    <a:pt x="4054221" y="184658"/>
                  </a:cubicBezTo>
                  <a:lnTo>
                    <a:pt x="4054221" y="5522722"/>
                  </a:lnTo>
                  <a:cubicBezTo>
                    <a:pt x="4054221" y="5624703"/>
                    <a:pt x="3971544" y="5707380"/>
                    <a:pt x="3869563" y="5707380"/>
                  </a:cubicBezTo>
                  <a:lnTo>
                    <a:pt x="184658" y="5707380"/>
                  </a:lnTo>
                  <a:cubicBezTo>
                    <a:pt x="82677" y="5707380"/>
                    <a:pt x="0" y="5624703"/>
                    <a:pt x="0" y="5522722"/>
                  </a:cubicBezTo>
                  <a:close/>
                </a:path>
              </a:pathLst>
            </a:custGeom>
            <a:solidFill>
              <a:srgbClr val="111827"/>
            </a:solidFill>
            <a:ln w="28575" cap="sq">
              <a:solidFill>
                <a:srgbClr val="3FB68B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848917" y="3360420"/>
            <a:ext cx="960120" cy="960120"/>
            <a:chOff x="0" y="0"/>
            <a:chExt cx="1280160" cy="12801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3FB68B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0120" y="4663440"/>
            <a:ext cx="2737714" cy="1642267"/>
            <a:chOff x="0" y="0"/>
            <a:chExt cx="3650285" cy="218969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650284" cy="2189690"/>
            </a:xfrm>
            <a:custGeom>
              <a:avLst/>
              <a:gdLst/>
              <a:ahLst/>
              <a:cxnLst/>
              <a:rect r="r" b="b" t="t" l="l"/>
              <a:pathLst>
                <a:path h="2189690" w="3650284">
                  <a:moveTo>
                    <a:pt x="0" y="0"/>
                  </a:moveTo>
                  <a:lnTo>
                    <a:pt x="3650284" y="0"/>
                  </a:lnTo>
                  <a:lnTo>
                    <a:pt x="3650284" y="2189690"/>
                  </a:lnTo>
                  <a:lnTo>
                    <a:pt x="0" y="21896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0" r="0" b="38286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3650285" cy="2199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99"/>
                </a:lnSpc>
              </a:pPr>
              <a:r>
                <a:rPr lang="en-US" sz="224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HEALTHY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97280" y="5692140"/>
            <a:ext cx="2463394" cy="1234440"/>
            <a:chOff x="0" y="0"/>
            <a:chExt cx="3284525" cy="1645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284524" cy="1645920"/>
            </a:xfrm>
            <a:custGeom>
              <a:avLst/>
              <a:gdLst/>
              <a:ahLst/>
              <a:cxnLst/>
              <a:rect r="r" b="b" t="t" l="l"/>
              <a:pathLst>
                <a:path h="1645920" w="3284524">
                  <a:moveTo>
                    <a:pt x="0" y="0"/>
                  </a:moveTo>
                  <a:lnTo>
                    <a:pt x="3284524" y="0"/>
                  </a:lnTo>
                  <a:lnTo>
                    <a:pt x="3284524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294" t="0" r="-14294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284525" cy="1684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89"/>
                </a:lnSpc>
              </a:pPr>
              <a:r>
                <a:rPr lang="en-US" sz="2074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Normal operation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4204754" y="2866072"/>
            <a:ext cx="3040609" cy="4280535"/>
            <a:chOff x="0" y="0"/>
            <a:chExt cx="4054145" cy="57073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054221" cy="5707380"/>
            </a:xfrm>
            <a:custGeom>
              <a:avLst/>
              <a:gdLst/>
              <a:ahLst/>
              <a:cxnLst/>
              <a:rect r="r" b="b" t="t" l="l"/>
              <a:pathLst>
                <a:path h="5707380" w="4054221">
                  <a:moveTo>
                    <a:pt x="0" y="184658"/>
                  </a:moveTo>
                  <a:cubicBezTo>
                    <a:pt x="0" y="82677"/>
                    <a:pt x="82677" y="0"/>
                    <a:pt x="184658" y="0"/>
                  </a:cubicBezTo>
                  <a:lnTo>
                    <a:pt x="3869563" y="0"/>
                  </a:lnTo>
                  <a:cubicBezTo>
                    <a:pt x="3971544" y="0"/>
                    <a:pt x="4054221" y="82677"/>
                    <a:pt x="4054221" y="184658"/>
                  </a:cubicBezTo>
                  <a:lnTo>
                    <a:pt x="4054221" y="5522722"/>
                  </a:lnTo>
                  <a:cubicBezTo>
                    <a:pt x="4054221" y="5624703"/>
                    <a:pt x="3971544" y="5707380"/>
                    <a:pt x="3869563" y="5707380"/>
                  </a:cubicBezTo>
                  <a:lnTo>
                    <a:pt x="184658" y="5707380"/>
                  </a:lnTo>
                  <a:cubicBezTo>
                    <a:pt x="82677" y="5707380"/>
                    <a:pt x="0" y="5624703"/>
                    <a:pt x="0" y="5522722"/>
                  </a:cubicBezTo>
                  <a:close/>
                </a:path>
              </a:pathLst>
            </a:custGeom>
            <a:solidFill>
              <a:srgbClr val="111827"/>
            </a:solidFill>
            <a:ln w="28575" cap="sq">
              <a:solidFill>
                <a:srgbClr val="F2C94C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5244998" y="3360420"/>
            <a:ext cx="960120" cy="960120"/>
            <a:chOff x="0" y="0"/>
            <a:chExt cx="1280160" cy="12801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F2C94C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4356202" y="4663440"/>
            <a:ext cx="2737714" cy="1642267"/>
            <a:chOff x="0" y="0"/>
            <a:chExt cx="3650285" cy="21896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650284" cy="2189690"/>
            </a:xfrm>
            <a:custGeom>
              <a:avLst/>
              <a:gdLst/>
              <a:ahLst/>
              <a:cxnLst/>
              <a:rect r="r" b="b" t="t" l="l"/>
              <a:pathLst>
                <a:path h="2189690" w="3650284">
                  <a:moveTo>
                    <a:pt x="0" y="0"/>
                  </a:moveTo>
                  <a:lnTo>
                    <a:pt x="3650284" y="0"/>
                  </a:lnTo>
                  <a:lnTo>
                    <a:pt x="3650284" y="2189690"/>
                  </a:lnTo>
                  <a:lnTo>
                    <a:pt x="0" y="21896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0" r="0" b="38286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3650285" cy="2199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99"/>
                </a:lnSpc>
              </a:pPr>
              <a:r>
                <a:rPr lang="en-US" sz="224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WATCH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4493362" y="5692140"/>
            <a:ext cx="2463394" cy="1234440"/>
            <a:chOff x="0" y="0"/>
            <a:chExt cx="3284525" cy="16459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284524" cy="1645920"/>
            </a:xfrm>
            <a:custGeom>
              <a:avLst/>
              <a:gdLst/>
              <a:ahLst/>
              <a:cxnLst/>
              <a:rect r="r" b="b" t="t" l="l"/>
              <a:pathLst>
                <a:path h="1645920" w="3284524">
                  <a:moveTo>
                    <a:pt x="0" y="0"/>
                  </a:moveTo>
                  <a:lnTo>
                    <a:pt x="3284524" y="0"/>
                  </a:lnTo>
                  <a:lnTo>
                    <a:pt x="3284524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294" t="0" r="-14294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3284525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69"/>
                </a:lnSpc>
              </a:pPr>
              <a:r>
                <a:rPr lang="en-US" sz="1974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Early signs of deviation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7600836" y="2866072"/>
            <a:ext cx="3040609" cy="4280535"/>
            <a:chOff x="0" y="0"/>
            <a:chExt cx="4054145" cy="57073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054221" cy="5707380"/>
            </a:xfrm>
            <a:custGeom>
              <a:avLst/>
              <a:gdLst/>
              <a:ahLst/>
              <a:cxnLst/>
              <a:rect r="r" b="b" t="t" l="l"/>
              <a:pathLst>
                <a:path h="5707380" w="4054221">
                  <a:moveTo>
                    <a:pt x="0" y="184658"/>
                  </a:moveTo>
                  <a:cubicBezTo>
                    <a:pt x="0" y="82677"/>
                    <a:pt x="82677" y="0"/>
                    <a:pt x="184658" y="0"/>
                  </a:cubicBezTo>
                  <a:lnTo>
                    <a:pt x="3869563" y="0"/>
                  </a:lnTo>
                  <a:cubicBezTo>
                    <a:pt x="3971544" y="0"/>
                    <a:pt x="4054221" y="82677"/>
                    <a:pt x="4054221" y="184658"/>
                  </a:cubicBezTo>
                  <a:lnTo>
                    <a:pt x="4054221" y="5522722"/>
                  </a:lnTo>
                  <a:cubicBezTo>
                    <a:pt x="4054221" y="5624703"/>
                    <a:pt x="3971544" y="5707380"/>
                    <a:pt x="3869563" y="5707380"/>
                  </a:cubicBezTo>
                  <a:lnTo>
                    <a:pt x="184658" y="5707380"/>
                  </a:lnTo>
                  <a:cubicBezTo>
                    <a:pt x="82677" y="5707380"/>
                    <a:pt x="0" y="5624703"/>
                    <a:pt x="0" y="5522722"/>
                  </a:cubicBezTo>
                  <a:close/>
                </a:path>
              </a:pathLst>
            </a:custGeom>
            <a:solidFill>
              <a:srgbClr val="111827"/>
            </a:solidFill>
            <a:ln w="28575" cap="sq">
              <a:solidFill>
                <a:srgbClr val="F2994A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8641080" y="3360420"/>
            <a:ext cx="960120" cy="960120"/>
            <a:chOff x="0" y="0"/>
            <a:chExt cx="1280160" cy="12801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F2994A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7752283" y="4663440"/>
            <a:ext cx="2737714" cy="1642267"/>
            <a:chOff x="0" y="0"/>
            <a:chExt cx="3650285" cy="218969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650284" cy="2189690"/>
            </a:xfrm>
            <a:custGeom>
              <a:avLst/>
              <a:gdLst/>
              <a:ahLst/>
              <a:cxnLst/>
              <a:rect r="r" b="b" t="t" l="l"/>
              <a:pathLst>
                <a:path h="2189690" w="3650284">
                  <a:moveTo>
                    <a:pt x="0" y="0"/>
                  </a:moveTo>
                  <a:lnTo>
                    <a:pt x="3650284" y="0"/>
                  </a:lnTo>
                  <a:lnTo>
                    <a:pt x="3650284" y="2189690"/>
                  </a:lnTo>
                  <a:lnTo>
                    <a:pt x="0" y="21896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0" r="0" b="38286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3650285" cy="2199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99"/>
                </a:lnSpc>
              </a:pPr>
              <a:r>
                <a:rPr lang="en-US" sz="224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DEGRADING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7889443" y="5692140"/>
            <a:ext cx="2463394" cy="1234440"/>
            <a:chOff x="0" y="0"/>
            <a:chExt cx="3284525" cy="16459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284524" cy="1645920"/>
            </a:xfrm>
            <a:custGeom>
              <a:avLst/>
              <a:gdLst/>
              <a:ahLst/>
              <a:cxnLst/>
              <a:rect r="r" b="b" t="t" l="l"/>
              <a:pathLst>
                <a:path h="1645920" w="3284524">
                  <a:moveTo>
                    <a:pt x="0" y="0"/>
                  </a:moveTo>
                  <a:lnTo>
                    <a:pt x="3284524" y="0"/>
                  </a:lnTo>
                  <a:lnTo>
                    <a:pt x="3284524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294" t="0" r="-14294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3284525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69"/>
                </a:lnSpc>
              </a:pPr>
              <a:r>
                <a:rPr lang="en-US" sz="1974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Confirmed degradation trend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0996917" y="2866072"/>
            <a:ext cx="3040609" cy="4280535"/>
            <a:chOff x="0" y="0"/>
            <a:chExt cx="4054145" cy="57073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054221" cy="5707380"/>
            </a:xfrm>
            <a:custGeom>
              <a:avLst/>
              <a:gdLst/>
              <a:ahLst/>
              <a:cxnLst/>
              <a:rect r="r" b="b" t="t" l="l"/>
              <a:pathLst>
                <a:path h="5707380" w="4054221">
                  <a:moveTo>
                    <a:pt x="0" y="184658"/>
                  </a:moveTo>
                  <a:cubicBezTo>
                    <a:pt x="0" y="82677"/>
                    <a:pt x="82677" y="0"/>
                    <a:pt x="184658" y="0"/>
                  </a:cubicBezTo>
                  <a:lnTo>
                    <a:pt x="3869563" y="0"/>
                  </a:lnTo>
                  <a:cubicBezTo>
                    <a:pt x="3971544" y="0"/>
                    <a:pt x="4054221" y="82677"/>
                    <a:pt x="4054221" y="184658"/>
                  </a:cubicBezTo>
                  <a:lnTo>
                    <a:pt x="4054221" y="5522722"/>
                  </a:lnTo>
                  <a:cubicBezTo>
                    <a:pt x="4054221" y="5624703"/>
                    <a:pt x="3971544" y="5707380"/>
                    <a:pt x="3869563" y="5707380"/>
                  </a:cubicBezTo>
                  <a:lnTo>
                    <a:pt x="184658" y="5707380"/>
                  </a:lnTo>
                  <a:cubicBezTo>
                    <a:pt x="82677" y="5707380"/>
                    <a:pt x="0" y="5624703"/>
                    <a:pt x="0" y="5522722"/>
                  </a:cubicBezTo>
                  <a:close/>
                </a:path>
              </a:pathLst>
            </a:custGeom>
            <a:solidFill>
              <a:srgbClr val="111827"/>
            </a:solidFill>
            <a:ln w="28575" cap="sq">
              <a:solidFill>
                <a:srgbClr val="E85D5D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037162" y="3360420"/>
            <a:ext cx="960120" cy="960120"/>
            <a:chOff x="0" y="0"/>
            <a:chExt cx="1280160" cy="128016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E85D5D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1148365" y="4663440"/>
            <a:ext cx="2737714" cy="1642267"/>
            <a:chOff x="0" y="0"/>
            <a:chExt cx="3650285" cy="218969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650284" cy="2189690"/>
            </a:xfrm>
            <a:custGeom>
              <a:avLst/>
              <a:gdLst/>
              <a:ahLst/>
              <a:cxnLst/>
              <a:rect r="r" b="b" t="t" l="l"/>
              <a:pathLst>
                <a:path h="2189690" w="3650284">
                  <a:moveTo>
                    <a:pt x="0" y="0"/>
                  </a:moveTo>
                  <a:lnTo>
                    <a:pt x="3650284" y="0"/>
                  </a:lnTo>
                  <a:lnTo>
                    <a:pt x="3650284" y="2189690"/>
                  </a:lnTo>
                  <a:lnTo>
                    <a:pt x="0" y="21896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0" r="0" b="38286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3650285" cy="2199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99"/>
                </a:lnSpc>
              </a:pPr>
              <a:r>
                <a:rPr lang="en-US" sz="224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CRITICAL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1285525" y="5692140"/>
            <a:ext cx="2463394" cy="1234440"/>
            <a:chOff x="0" y="0"/>
            <a:chExt cx="3284525" cy="16459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284524" cy="1645920"/>
            </a:xfrm>
            <a:custGeom>
              <a:avLst/>
              <a:gdLst/>
              <a:ahLst/>
              <a:cxnLst/>
              <a:rect r="r" b="b" t="t" l="l"/>
              <a:pathLst>
                <a:path h="1645920" w="3284524">
                  <a:moveTo>
                    <a:pt x="0" y="0"/>
                  </a:moveTo>
                  <a:lnTo>
                    <a:pt x="3284524" y="0"/>
                  </a:lnTo>
                  <a:lnTo>
                    <a:pt x="3284524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294" t="0" r="-14294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47625"/>
              <a:ext cx="3284525" cy="1693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69"/>
                </a:lnSpc>
              </a:pPr>
              <a:r>
                <a:rPr lang="en-US" sz="1974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 failure probability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4392999" y="2866072"/>
            <a:ext cx="3040609" cy="4280535"/>
            <a:chOff x="0" y="0"/>
            <a:chExt cx="4054145" cy="57073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054221" cy="5707380"/>
            </a:xfrm>
            <a:custGeom>
              <a:avLst/>
              <a:gdLst/>
              <a:ahLst/>
              <a:cxnLst/>
              <a:rect r="r" b="b" t="t" l="l"/>
              <a:pathLst>
                <a:path h="5707380" w="4054221">
                  <a:moveTo>
                    <a:pt x="0" y="184658"/>
                  </a:moveTo>
                  <a:cubicBezTo>
                    <a:pt x="0" y="82677"/>
                    <a:pt x="82677" y="0"/>
                    <a:pt x="184658" y="0"/>
                  </a:cubicBezTo>
                  <a:lnTo>
                    <a:pt x="3869563" y="0"/>
                  </a:lnTo>
                  <a:cubicBezTo>
                    <a:pt x="3971544" y="0"/>
                    <a:pt x="4054221" y="82677"/>
                    <a:pt x="4054221" y="184658"/>
                  </a:cubicBezTo>
                  <a:lnTo>
                    <a:pt x="4054221" y="5522722"/>
                  </a:lnTo>
                  <a:cubicBezTo>
                    <a:pt x="4054221" y="5624703"/>
                    <a:pt x="3971544" y="5707380"/>
                    <a:pt x="3869563" y="5707380"/>
                  </a:cubicBezTo>
                  <a:lnTo>
                    <a:pt x="184658" y="5707380"/>
                  </a:lnTo>
                  <a:cubicBezTo>
                    <a:pt x="82677" y="5707380"/>
                    <a:pt x="0" y="5624703"/>
                    <a:pt x="0" y="5522722"/>
                  </a:cubicBezTo>
                  <a:close/>
                </a:path>
              </a:pathLst>
            </a:custGeom>
            <a:solidFill>
              <a:srgbClr val="111827"/>
            </a:solidFill>
            <a:ln w="28575" cap="sq">
              <a:solidFill>
                <a:srgbClr val="B0263A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5433243" y="3360420"/>
            <a:ext cx="960120" cy="960120"/>
            <a:chOff x="0" y="0"/>
            <a:chExt cx="1280160" cy="12801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B0263A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4544446" y="4663440"/>
            <a:ext cx="2737714" cy="1642267"/>
            <a:chOff x="0" y="0"/>
            <a:chExt cx="3650285" cy="218969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650284" cy="2189690"/>
            </a:xfrm>
            <a:custGeom>
              <a:avLst/>
              <a:gdLst/>
              <a:ahLst/>
              <a:cxnLst/>
              <a:rect r="r" b="b" t="t" l="l"/>
              <a:pathLst>
                <a:path h="2189690" w="3650284">
                  <a:moveTo>
                    <a:pt x="0" y="0"/>
                  </a:moveTo>
                  <a:lnTo>
                    <a:pt x="3650284" y="0"/>
                  </a:lnTo>
                  <a:lnTo>
                    <a:pt x="3650284" y="2189690"/>
                  </a:lnTo>
                  <a:lnTo>
                    <a:pt x="0" y="21896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0" r="0" b="38286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3650285" cy="2199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99"/>
                </a:lnSpc>
              </a:pPr>
              <a:r>
                <a:rPr lang="en-US" sz="224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FAILURE-LIKELY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4681606" y="5692140"/>
            <a:ext cx="2463394" cy="1234440"/>
            <a:chOff x="0" y="0"/>
            <a:chExt cx="3284525" cy="164592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284524" cy="1645920"/>
            </a:xfrm>
            <a:custGeom>
              <a:avLst/>
              <a:gdLst/>
              <a:ahLst/>
              <a:cxnLst/>
              <a:rect r="r" b="b" t="t" l="l"/>
              <a:pathLst>
                <a:path h="1645920" w="3284524">
                  <a:moveTo>
                    <a:pt x="0" y="0"/>
                  </a:moveTo>
                  <a:lnTo>
                    <a:pt x="3284524" y="0"/>
                  </a:lnTo>
                  <a:lnTo>
                    <a:pt x="3284524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294" t="0" r="-14294" b="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3284525" cy="16840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89"/>
                </a:lnSpc>
              </a:pPr>
              <a:r>
                <a:rPr lang="en-US" sz="2074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Imminent failure</a:t>
              </a:r>
            </a:p>
          </p:txBody>
        </p:sp>
      </p:grpSp>
      <p:sp>
        <p:nvSpPr>
          <p:cNvPr name="AutoShape 58" id="58"/>
          <p:cNvSpPr/>
          <p:nvPr/>
        </p:nvSpPr>
        <p:spPr>
          <a:xfrm rot="3960">
            <a:off x="813425" y="7607618"/>
            <a:ext cx="16615420" cy="0"/>
          </a:xfrm>
          <a:prstGeom prst="line">
            <a:avLst/>
          </a:prstGeom>
          <a:ln cap="rnd" w="9525">
            <a:solidFill>
              <a:srgbClr val="26304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9" id="59"/>
          <p:cNvGrpSpPr/>
          <p:nvPr/>
        </p:nvGrpSpPr>
        <p:grpSpPr>
          <a:xfrm rot="0">
            <a:off x="822960" y="7886700"/>
            <a:ext cx="16596360" cy="822960"/>
            <a:chOff x="0" y="0"/>
            <a:chExt cx="22128480" cy="109728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21284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2948" r="0" b="-342948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47625"/>
              <a:ext cx="22128480" cy="1144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69"/>
                </a:lnSpc>
              </a:pPr>
              <a:r>
                <a:rPr lang="en-US" sz="1974" i="true">
                  <a:solidFill>
                    <a:srgbClr val="9FB0B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Hysteresis prevents state "flicker" from noisy single-cycle readings — a change must persist before it's confirmed, keeping the warning timeline trustworthy.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685800" y="9710928"/>
            <a:ext cx="4114800" cy="411480"/>
            <a:chOff x="0" y="0"/>
            <a:chExt cx="5486400" cy="5486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E7B8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STAT-TWIN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6915943" y="9710928"/>
            <a:ext cx="685800" cy="411480"/>
            <a:chOff x="0" y="0"/>
            <a:chExt cx="914400" cy="54864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E7B8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7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48640"/>
            <a:ext cx="12344400" cy="754380"/>
            <a:chOff x="0" y="0"/>
            <a:chExt cx="1645920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4592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8846" r="0" b="-26884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6459200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Models &amp; Uncertainty</a:t>
              </a:r>
            </a:p>
          </p:txBody>
        </p:sp>
      </p:grpSp>
      <p:sp>
        <p:nvSpPr>
          <p:cNvPr name="AutoShape 5" id="5"/>
          <p:cNvSpPr/>
          <p:nvPr/>
        </p:nvSpPr>
        <p:spPr>
          <a:xfrm rot="3960">
            <a:off x="813425" y="1366838"/>
            <a:ext cx="16615420" cy="0"/>
          </a:xfrm>
          <a:prstGeom prst="line">
            <a:avLst/>
          </a:prstGeom>
          <a:ln cap="rnd" w="9525">
            <a:solidFill>
              <a:srgbClr val="E2E8E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822960" y="1645920"/>
            <a:ext cx="8229600" cy="411480"/>
            <a:chOff x="0" y="0"/>
            <a:chExt cx="10972800" cy="5486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10972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225">
                  <a:solidFill>
                    <a:srgbClr val="065A8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7 MODEL BASELINES — ONE SHARED INTERFACE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22960" y="2194560"/>
            <a:ext cx="2304288" cy="1165860"/>
            <a:chOff x="0" y="0"/>
            <a:chExt cx="3072384" cy="15544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072384" cy="1554480"/>
            </a:xfrm>
            <a:custGeom>
              <a:avLst/>
              <a:gdLst/>
              <a:ahLst/>
              <a:cxnLst/>
              <a:rect r="r" b="b" t="t" l="l"/>
              <a:pathLst>
                <a:path h="1554480" w="30723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926080" y="0"/>
                  </a:lnTo>
                  <a:cubicBezTo>
                    <a:pt x="3006852" y="0"/>
                    <a:pt x="3072384" y="65532"/>
                    <a:pt x="3072384" y="146304"/>
                  </a:cubicBezTo>
                  <a:lnTo>
                    <a:pt x="3072384" y="1408176"/>
                  </a:lnTo>
                  <a:cubicBezTo>
                    <a:pt x="3072384" y="1488948"/>
                    <a:pt x="3006852" y="1554480"/>
                    <a:pt x="2926080" y="1554480"/>
                  </a:cubicBezTo>
                  <a:lnTo>
                    <a:pt x="146304" y="1554480"/>
                  </a:lnTo>
                  <a:cubicBezTo>
                    <a:pt x="65532" y="1554480"/>
                    <a:pt x="0" y="1488948"/>
                    <a:pt x="0" y="140817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05256" y="2194560"/>
            <a:ext cx="2139696" cy="1165860"/>
            <a:chOff x="0" y="0"/>
            <a:chExt cx="2852928" cy="1554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5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2852928">
                  <a:moveTo>
                    <a:pt x="0" y="0"/>
                  </a:moveTo>
                  <a:lnTo>
                    <a:pt x="2852928" y="0"/>
                  </a:lnTo>
                  <a:lnTo>
                    <a:pt x="2852928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908" t="0" r="-19908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852928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Fixed Threshold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305556" y="2194560"/>
            <a:ext cx="2304288" cy="1165860"/>
            <a:chOff x="0" y="0"/>
            <a:chExt cx="3072384" cy="15544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072384" cy="1554480"/>
            </a:xfrm>
            <a:custGeom>
              <a:avLst/>
              <a:gdLst/>
              <a:ahLst/>
              <a:cxnLst/>
              <a:rect r="r" b="b" t="t" l="l"/>
              <a:pathLst>
                <a:path h="1554480" w="30723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926080" y="0"/>
                  </a:lnTo>
                  <a:cubicBezTo>
                    <a:pt x="3006852" y="0"/>
                    <a:pt x="3072384" y="65532"/>
                    <a:pt x="3072384" y="146304"/>
                  </a:cubicBezTo>
                  <a:lnTo>
                    <a:pt x="3072384" y="1408176"/>
                  </a:lnTo>
                  <a:cubicBezTo>
                    <a:pt x="3072384" y="1488948"/>
                    <a:pt x="3006852" y="1554480"/>
                    <a:pt x="2926080" y="1554480"/>
                  </a:cubicBezTo>
                  <a:lnTo>
                    <a:pt x="146304" y="1554480"/>
                  </a:lnTo>
                  <a:cubicBezTo>
                    <a:pt x="65532" y="1554480"/>
                    <a:pt x="0" y="1488948"/>
                    <a:pt x="0" y="140817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3387852" y="2194560"/>
            <a:ext cx="2139696" cy="1165860"/>
            <a:chOff x="0" y="0"/>
            <a:chExt cx="2852928" cy="15544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85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2852928">
                  <a:moveTo>
                    <a:pt x="0" y="0"/>
                  </a:moveTo>
                  <a:lnTo>
                    <a:pt x="2852928" y="0"/>
                  </a:lnTo>
                  <a:lnTo>
                    <a:pt x="2852928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908" t="0" r="-19908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2852928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Mahalanobis Anomaly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5788152" y="2194560"/>
            <a:ext cx="2304288" cy="1165860"/>
            <a:chOff x="0" y="0"/>
            <a:chExt cx="3072384" cy="15544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072384" cy="1554480"/>
            </a:xfrm>
            <a:custGeom>
              <a:avLst/>
              <a:gdLst/>
              <a:ahLst/>
              <a:cxnLst/>
              <a:rect r="r" b="b" t="t" l="l"/>
              <a:pathLst>
                <a:path h="1554480" w="30723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926080" y="0"/>
                  </a:lnTo>
                  <a:cubicBezTo>
                    <a:pt x="3006852" y="0"/>
                    <a:pt x="3072384" y="65532"/>
                    <a:pt x="3072384" y="146304"/>
                  </a:cubicBezTo>
                  <a:lnTo>
                    <a:pt x="3072384" y="1408176"/>
                  </a:lnTo>
                  <a:cubicBezTo>
                    <a:pt x="3072384" y="1488948"/>
                    <a:pt x="3006852" y="1554480"/>
                    <a:pt x="2926080" y="1554480"/>
                  </a:cubicBezTo>
                  <a:lnTo>
                    <a:pt x="146304" y="1554480"/>
                  </a:lnTo>
                  <a:cubicBezTo>
                    <a:pt x="65532" y="1554480"/>
                    <a:pt x="0" y="1488948"/>
                    <a:pt x="0" y="140817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5870448" y="2194560"/>
            <a:ext cx="2139696" cy="1165860"/>
            <a:chOff x="0" y="0"/>
            <a:chExt cx="2852928" cy="15544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85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2852928">
                  <a:moveTo>
                    <a:pt x="0" y="0"/>
                  </a:moveTo>
                  <a:lnTo>
                    <a:pt x="2852928" y="0"/>
                  </a:lnTo>
                  <a:lnTo>
                    <a:pt x="2852928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908" t="0" r="-19908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2852928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Logistic Regression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270748" y="2194560"/>
            <a:ext cx="2304288" cy="1165860"/>
            <a:chOff x="0" y="0"/>
            <a:chExt cx="3072384" cy="15544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072384" cy="1554480"/>
            </a:xfrm>
            <a:custGeom>
              <a:avLst/>
              <a:gdLst/>
              <a:ahLst/>
              <a:cxnLst/>
              <a:rect r="r" b="b" t="t" l="l"/>
              <a:pathLst>
                <a:path h="1554480" w="30723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926080" y="0"/>
                  </a:lnTo>
                  <a:cubicBezTo>
                    <a:pt x="3006852" y="0"/>
                    <a:pt x="3072384" y="65532"/>
                    <a:pt x="3072384" y="146304"/>
                  </a:cubicBezTo>
                  <a:lnTo>
                    <a:pt x="3072384" y="1408176"/>
                  </a:lnTo>
                  <a:cubicBezTo>
                    <a:pt x="3072384" y="1488948"/>
                    <a:pt x="3006852" y="1554480"/>
                    <a:pt x="2926080" y="1554480"/>
                  </a:cubicBezTo>
                  <a:lnTo>
                    <a:pt x="146304" y="1554480"/>
                  </a:lnTo>
                  <a:cubicBezTo>
                    <a:pt x="65532" y="1554480"/>
                    <a:pt x="0" y="1488948"/>
                    <a:pt x="0" y="140817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8353044" y="2194560"/>
            <a:ext cx="2139696" cy="1165860"/>
            <a:chOff x="0" y="0"/>
            <a:chExt cx="2852928" cy="15544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85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2852928">
                  <a:moveTo>
                    <a:pt x="0" y="0"/>
                  </a:moveTo>
                  <a:lnTo>
                    <a:pt x="2852928" y="0"/>
                  </a:lnTo>
                  <a:lnTo>
                    <a:pt x="2852928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908" t="0" r="-19908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852928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Random Forest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753344" y="2194560"/>
            <a:ext cx="2304288" cy="1165860"/>
            <a:chOff x="0" y="0"/>
            <a:chExt cx="3072384" cy="155448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072384" cy="1554480"/>
            </a:xfrm>
            <a:custGeom>
              <a:avLst/>
              <a:gdLst/>
              <a:ahLst/>
              <a:cxnLst/>
              <a:rect r="r" b="b" t="t" l="l"/>
              <a:pathLst>
                <a:path h="1554480" w="30723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926080" y="0"/>
                  </a:lnTo>
                  <a:cubicBezTo>
                    <a:pt x="3006852" y="0"/>
                    <a:pt x="3072384" y="65532"/>
                    <a:pt x="3072384" y="146304"/>
                  </a:cubicBezTo>
                  <a:lnTo>
                    <a:pt x="3072384" y="1408176"/>
                  </a:lnTo>
                  <a:cubicBezTo>
                    <a:pt x="3072384" y="1488948"/>
                    <a:pt x="3006852" y="1554480"/>
                    <a:pt x="2926080" y="1554480"/>
                  </a:cubicBezTo>
                  <a:lnTo>
                    <a:pt x="146304" y="1554480"/>
                  </a:lnTo>
                  <a:cubicBezTo>
                    <a:pt x="65532" y="1554480"/>
                    <a:pt x="0" y="1488948"/>
                    <a:pt x="0" y="140817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0835640" y="2194560"/>
            <a:ext cx="2139696" cy="1165860"/>
            <a:chOff x="0" y="0"/>
            <a:chExt cx="2852928" cy="15544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85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2852928">
                  <a:moveTo>
                    <a:pt x="0" y="0"/>
                  </a:moveTo>
                  <a:lnTo>
                    <a:pt x="2852928" y="0"/>
                  </a:lnTo>
                  <a:lnTo>
                    <a:pt x="2852928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908" t="0" r="-19908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852928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XGBoost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3235940" y="2194560"/>
            <a:ext cx="2304288" cy="1165860"/>
            <a:chOff x="0" y="0"/>
            <a:chExt cx="3072384" cy="15544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072384" cy="1554480"/>
            </a:xfrm>
            <a:custGeom>
              <a:avLst/>
              <a:gdLst/>
              <a:ahLst/>
              <a:cxnLst/>
              <a:rect r="r" b="b" t="t" l="l"/>
              <a:pathLst>
                <a:path h="1554480" w="30723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926080" y="0"/>
                  </a:lnTo>
                  <a:cubicBezTo>
                    <a:pt x="3006852" y="0"/>
                    <a:pt x="3072384" y="65532"/>
                    <a:pt x="3072384" y="146304"/>
                  </a:cubicBezTo>
                  <a:lnTo>
                    <a:pt x="3072384" y="1408176"/>
                  </a:lnTo>
                  <a:cubicBezTo>
                    <a:pt x="3072384" y="1488948"/>
                    <a:pt x="3006852" y="1554480"/>
                    <a:pt x="2926080" y="1554480"/>
                  </a:cubicBezTo>
                  <a:lnTo>
                    <a:pt x="146304" y="1554480"/>
                  </a:lnTo>
                  <a:cubicBezTo>
                    <a:pt x="65532" y="1554480"/>
                    <a:pt x="0" y="1488948"/>
                    <a:pt x="0" y="1408176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3318236" y="2194560"/>
            <a:ext cx="2139696" cy="1165860"/>
            <a:chOff x="0" y="0"/>
            <a:chExt cx="2852928" cy="155448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85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2852928">
                  <a:moveTo>
                    <a:pt x="0" y="0"/>
                  </a:moveTo>
                  <a:lnTo>
                    <a:pt x="2852928" y="0"/>
                  </a:lnTo>
                  <a:lnTo>
                    <a:pt x="2852928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908" t="0" r="-19908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2852928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GRU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5718536" y="2194560"/>
            <a:ext cx="2304288" cy="1165860"/>
            <a:chOff x="0" y="0"/>
            <a:chExt cx="3072384" cy="15544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072384" cy="1554480"/>
            </a:xfrm>
            <a:custGeom>
              <a:avLst/>
              <a:gdLst/>
              <a:ahLst/>
              <a:cxnLst/>
              <a:rect r="r" b="b" t="t" l="l"/>
              <a:pathLst>
                <a:path h="1554480" w="307238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926080" y="0"/>
                  </a:lnTo>
                  <a:cubicBezTo>
                    <a:pt x="3006852" y="0"/>
                    <a:pt x="3072384" y="65532"/>
                    <a:pt x="3072384" y="146304"/>
                  </a:cubicBezTo>
                  <a:lnTo>
                    <a:pt x="3072384" y="1408176"/>
                  </a:lnTo>
                  <a:cubicBezTo>
                    <a:pt x="3072384" y="1488948"/>
                    <a:pt x="3006852" y="1554480"/>
                    <a:pt x="2926080" y="1554480"/>
                  </a:cubicBezTo>
                  <a:lnTo>
                    <a:pt x="146304" y="1554480"/>
                  </a:lnTo>
                  <a:cubicBezTo>
                    <a:pt x="65532" y="1554480"/>
                    <a:pt x="0" y="1488948"/>
                    <a:pt x="0" y="1408176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5800832" y="2194560"/>
            <a:ext cx="2139696" cy="1165860"/>
            <a:chOff x="0" y="0"/>
            <a:chExt cx="2852928" cy="15544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85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2852928">
                  <a:moveTo>
                    <a:pt x="0" y="0"/>
                  </a:moveTo>
                  <a:lnTo>
                    <a:pt x="2852928" y="0"/>
                  </a:lnTo>
                  <a:lnTo>
                    <a:pt x="2852928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908" t="0" r="-19908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2852928" cy="159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520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STAT-TWIN Hybrid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22960" y="3634740"/>
            <a:ext cx="16596360" cy="548640"/>
            <a:chOff x="0" y="0"/>
            <a:chExt cx="22128480" cy="7315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2128480" cy="731520"/>
            </a:xfrm>
            <a:custGeom>
              <a:avLst/>
              <a:gdLst/>
              <a:ahLst/>
              <a:cxnLst/>
              <a:rect r="r" b="b" t="t" l="l"/>
              <a:pathLst>
                <a:path h="7315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9422" r="0" b="-539422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22128480" cy="741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29"/>
                </a:lnSpc>
              </a:pPr>
              <a:r>
                <a:rPr lang="en-US" sz="1774" i="true">
                  <a:solidFill>
                    <a:srgbClr val="5B6B7A"/>
                  </a:solidFill>
                  <a:latin typeface="Courier New Italics"/>
                  <a:ea typeface="Courier New Italics"/>
                  <a:cs typeface="Courier New Italics"/>
                  <a:sym typeface="Courier New Italics"/>
                </a:rPr>
                <a:t>fit(X, y, groups) → self   •   predict_proba(X) → P(fail within h)   •   predict_rul(X)   •   score_raw(X)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3960">
            <a:off x="813425" y="4452938"/>
            <a:ext cx="16615420" cy="0"/>
          </a:xfrm>
          <a:prstGeom prst="line">
            <a:avLst/>
          </a:prstGeom>
          <a:ln cap="rnd" w="9525">
            <a:solidFill>
              <a:srgbClr val="E2E8E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822960" y="4732020"/>
            <a:ext cx="10972800" cy="411480"/>
            <a:chOff x="0" y="0"/>
            <a:chExt cx="14630400" cy="5486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225">
                  <a:solidFill>
                    <a:srgbClr val="065A8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UNCERTAINTY QUANTIFICATION — SPLIT CONFORMAL PREDICTION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891540" y="5458968"/>
            <a:ext cx="192024" cy="192024"/>
            <a:chOff x="0" y="0"/>
            <a:chExt cx="256032" cy="25603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303020" y="5239512"/>
            <a:ext cx="15910560" cy="685800"/>
            <a:chOff x="0" y="0"/>
            <a:chExt cx="21214080" cy="9144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1214080" cy="914400"/>
            </a:xfrm>
            <a:custGeom>
              <a:avLst/>
              <a:gdLst/>
              <a:ahLst/>
              <a:cxnLst/>
              <a:rect r="r" b="b" t="t" l="l"/>
              <a:pathLst>
                <a:path h="9144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2052" r="0" b="-402052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2121408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Distribution-free finite-sample coverage under exchangeability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891540" y="6309360"/>
            <a:ext cx="192024" cy="192024"/>
            <a:chOff x="0" y="0"/>
            <a:chExt cx="256032" cy="256032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303020" y="6089904"/>
            <a:ext cx="15910560" cy="685800"/>
            <a:chOff x="0" y="0"/>
            <a:chExt cx="21214080" cy="9144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1214080" cy="914400"/>
            </a:xfrm>
            <a:custGeom>
              <a:avLst/>
              <a:gdLst/>
              <a:ahLst/>
              <a:cxnLst/>
              <a:rect r="r" b="b" t="t" l="l"/>
              <a:pathLst>
                <a:path h="9144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2052" r="0" b="-402052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21214080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>
                  <a:solidFill>
                    <a:srgbClr val="15202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Nonconformity score: s = |y − ŷ| / (σ_ens + ε)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891540" y="7159752"/>
            <a:ext cx="192024" cy="192024"/>
            <a:chOff x="0" y="0"/>
            <a:chExt cx="256032" cy="25603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303020" y="6940296"/>
            <a:ext cx="15910560" cy="685800"/>
            <a:chOff x="0" y="0"/>
            <a:chExt cx="21214080" cy="9144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1214080" cy="914400"/>
            </a:xfrm>
            <a:custGeom>
              <a:avLst/>
              <a:gdLst/>
              <a:ahLst/>
              <a:cxnLst/>
              <a:rect r="r" b="b" t="t" l="l"/>
              <a:pathLst>
                <a:path h="9144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2052" r="0" b="-402052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2121408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90% prediction intervals by default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891540" y="8010144"/>
            <a:ext cx="192024" cy="192024"/>
            <a:chOff x="0" y="0"/>
            <a:chExt cx="256032" cy="25603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303020" y="7790688"/>
            <a:ext cx="15910560" cy="685800"/>
            <a:chOff x="0" y="0"/>
            <a:chExt cx="21214080" cy="9144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1214080" cy="914400"/>
            </a:xfrm>
            <a:custGeom>
              <a:avLst/>
              <a:gdLst/>
              <a:ahLst/>
              <a:cxnLst/>
              <a:rect r="r" b="b" t="t" l="l"/>
              <a:pathLst>
                <a:path h="9144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2052" r="0" b="-402052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2121408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Coverage measured by RUL bucket and under distribution shift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685800" y="9710928"/>
            <a:ext cx="4114800" cy="411480"/>
            <a:chOff x="0" y="0"/>
            <a:chExt cx="548640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STAT-TWIN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6915943" y="9710928"/>
            <a:ext cx="685800" cy="411480"/>
            <a:chOff x="0" y="0"/>
            <a:chExt cx="914400" cy="5486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685800"/>
            <a:ext cx="12344400" cy="754380"/>
            <a:chOff x="0" y="0"/>
            <a:chExt cx="1645920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4592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8846" r="0" b="-26884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6459200" cy="1024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The Dashboard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440180"/>
            <a:ext cx="16184880" cy="548640"/>
            <a:chOff x="0" y="0"/>
            <a:chExt cx="21579840" cy="7315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579839" cy="731520"/>
            </a:xfrm>
            <a:custGeom>
              <a:avLst/>
              <a:gdLst/>
              <a:ahLst/>
              <a:cxnLst/>
              <a:rect r="r" b="b" t="t" l="l"/>
              <a:pathLst>
                <a:path h="731520" w="21579839">
                  <a:moveTo>
                    <a:pt x="0" y="0"/>
                  </a:moveTo>
                  <a:lnTo>
                    <a:pt x="21579839" y="0"/>
                  </a:lnTo>
                  <a:lnTo>
                    <a:pt x="21579839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4808" r="0" b="-52480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157984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i="true">
                  <a:solidFill>
                    <a:srgbClr val="9FB0B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7-page Streamlit app · dark industrial theme · live 2s auto-refresh · provenance badges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322195"/>
            <a:ext cx="4106418" cy="2378202"/>
            <a:chOff x="0" y="0"/>
            <a:chExt cx="5475224" cy="317093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475224" cy="3170936"/>
            </a:xfrm>
            <a:custGeom>
              <a:avLst/>
              <a:gdLst/>
              <a:ahLst/>
              <a:cxnLst/>
              <a:rect r="r" b="b" t="t" l="l"/>
              <a:pathLst>
                <a:path h="3170936" w="5475224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309235" y="0"/>
                  </a:lnTo>
                  <a:cubicBezTo>
                    <a:pt x="5400929" y="0"/>
                    <a:pt x="5475224" y="74295"/>
                    <a:pt x="5475224" y="165989"/>
                  </a:cubicBezTo>
                  <a:lnTo>
                    <a:pt x="5475224" y="3004947"/>
                  </a:lnTo>
                  <a:cubicBezTo>
                    <a:pt x="5475224" y="3096641"/>
                    <a:pt x="5400929" y="3170936"/>
                    <a:pt x="5309235" y="3170936"/>
                  </a:cubicBezTo>
                  <a:lnTo>
                    <a:pt x="165989" y="3170936"/>
                  </a:lnTo>
                  <a:cubicBezTo>
                    <a:pt x="74295" y="3170936"/>
                    <a:pt x="0" y="3096641"/>
                    <a:pt x="0" y="3004947"/>
                  </a:cubicBezTo>
                  <a:close/>
                </a:path>
              </a:pathLst>
            </a:custGeom>
            <a:solidFill>
              <a:srgbClr val="111827"/>
            </a:solidFill>
            <a:ln w="19050" cap="sq">
              <a:solidFill>
                <a:srgbClr val="263041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069848" y="2551176"/>
            <a:ext cx="493776" cy="493776"/>
            <a:chOff x="0" y="0"/>
            <a:chExt cx="658368" cy="65836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69848" y="2551176"/>
            <a:ext cx="493776" cy="493776"/>
            <a:chOff x="0" y="0"/>
            <a:chExt cx="658368" cy="65836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658368" cy="6678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673352" y="2510028"/>
            <a:ext cx="2990088" cy="576072"/>
            <a:chOff x="0" y="0"/>
            <a:chExt cx="3986784" cy="76809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986784" cy="768096"/>
            </a:xfrm>
            <a:custGeom>
              <a:avLst/>
              <a:gdLst/>
              <a:ahLst/>
              <a:cxnLst/>
              <a:rect r="r" b="b" t="t" l="l"/>
              <a:pathLst>
                <a:path h="768096" w="3986784">
                  <a:moveTo>
                    <a:pt x="0" y="0"/>
                  </a:moveTo>
                  <a:lnTo>
                    <a:pt x="3986784" y="0"/>
                  </a:lnTo>
                  <a:lnTo>
                    <a:pt x="398678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136" r="0" b="-5113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3986784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Overview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69848" y="3264408"/>
            <a:ext cx="3593592" cy="1303020"/>
            <a:chOff x="0" y="0"/>
            <a:chExt cx="4791456" cy="17373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791456" cy="1737360"/>
            </a:xfrm>
            <a:custGeom>
              <a:avLst/>
              <a:gdLst/>
              <a:ahLst/>
              <a:cxnLst/>
              <a:rect r="r" b="b" t="t" l="l"/>
              <a:pathLst>
                <a:path h="1737360" w="4791456">
                  <a:moveTo>
                    <a:pt x="0" y="0"/>
                  </a:moveTo>
                  <a:lnTo>
                    <a:pt x="4791456" y="0"/>
                  </a:lnTo>
                  <a:lnTo>
                    <a:pt x="4791456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37" r="0" b="-373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4791456" cy="1775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SHI gauge, risk timeline, DQ status, live replay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5120259" y="2322195"/>
            <a:ext cx="4106418" cy="2378202"/>
            <a:chOff x="0" y="0"/>
            <a:chExt cx="5475224" cy="317093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475224" cy="3170936"/>
            </a:xfrm>
            <a:custGeom>
              <a:avLst/>
              <a:gdLst/>
              <a:ahLst/>
              <a:cxnLst/>
              <a:rect r="r" b="b" t="t" l="l"/>
              <a:pathLst>
                <a:path h="3170936" w="5475224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309235" y="0"/>
                  </a:lnTo>
                  <a:cubicBezTo>
                    <a:pt x="5400929" y="0"/>
                    <a:pt x="5475224" y="74295"/>
                    <a:pt x="5475224" y="165989"/>
                  </a:cubicBezTo>
                  <a:lnTo>
                    <a:pt x="5475224" y="3004947"/>
                  </a:lnTo>
                  <a:cubicBezTo>
                    <a:pt x="5475224" y="3096641"/>
                    <a:pt x="5400929" y="3170936"/>
                    <a:pt x="5309235" y="3170936"/>
                  </a:cubicBezTo>
                  <a:lnTo>
                    <a:pt x="165989" y="3170936"/>
                  </a:lnTo>
                  <a:cubicBezTo>
                    <a:pt x="74295" y="3170936"/>
                    <a:pt x="0" y="3096641"/>
                    <a:pt x="0" y="3004947"/>
                  </a:cubicBezTo>
                  <a:close/>
                </a:path>
              </a:pathLst>
            </a:custGeom>
            <a:solidFill>
              <a:srgbClr val="111827"/>
            </a:solidFill>
            <a:ln w="19050" cap="sq">
              <a:solidFill>
                <a:srgbClr val="263041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5376672" y="2551176"/>
            <a:ext cx="493776" cy="493776"/>
            <a:chOff x="0" y="0"/>
            <a:chExt cx="658368" cy="65836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5376672" y="2551176"/>
            <a:ext cx="493776" cy="493776"/>
            <a:chOff x="0" y="0"/>
            <a:chExt cx="658368" cy="65836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658368" cy="6678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5980176" y="2510028"/>
            <a:ext cx="2990088" cy="576072"/>
            <a:chOff x="0" y="0"/>
            <a:chExt cx="3986784" cy="7680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986784" cy="768096"/>
            </a:xfrm>
            <a:custGeom>
              <a:avLst/>
              <a:gdLst/>
              <a:ahLst/>
              <a:cxnLst/>
              <a:rect r="r" b="b" t="t" l="l"/>
              <a:pathLst>
                <a:path h="768096" w="3986784">
                  <a:moveTo>
                    <a:pt x="0" y="0"/>
                  </a:moveTo>
                  <a:lnTo>
                    <a:pt x="3986784" y="0"/>
                  </a:lnTo>
                  <a:lnTo>
                    <a:pt x="398678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136" r="0" b="-5113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3986784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Sensor Monitoring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5376672" y="3264408"/>
            <a:ext cx="3593592" cy="1303020"/>
            <a:chOff x="0" y="0"/>
            <a:chExt cx="4791456" cy="17373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791456" cy="1737360"/>
            </a:xfrm>
            <a:custGeom>
              <a:avLst/>
              <a:gdLst/>
              <a:ahLst/>
              <a:cxnLst/>
              <a:rect r="r" b="b" t="t" l="l"/>
              <a:pathLst>
                <a:path h="1737360" w="4791456">
                  <a:moveTo>
                    <a:pt x="0" y="0"/>
                  </a:moveTo>
                  <a:lnTo>
                    <a:pt x="4791456" y="0"/>
                  </a:lnTo>
                  <a:lnTo>
                    <a:pt x="4791456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37" r="0" b="-373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4791456" cy="1775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Raw + rolling + EWMA + Z-score, DQ flags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9427083" y="2322195"/>
            <a:ext cx="4106418" cy="2378202"/>
            <a:chOff x="0" y="0"/>
            <a:chExt cx="5475224" cy="317093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475224" cy="3170936"/>
            </a:xfrm>
            <a:custGeom>
              <a:avLst/>
              <a:gdLst/>
              <a:ahLst/>
              <a:cxnLst/>
              <a:rect r="r" b="b" t="t" l="l"/>
              <a:pathLst>
                <a:path h="3170936" w="5475224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309235" y="0"/>
                  </a:lnTo>
                  <a:cubicBezTo>
                    <a:pt x="5400929" y="0"/>
                    <a:pt x="5475224" y="74295"/>
                    <a:pt x="5475224" y="165989"/>
                  </a:cubicBezTo>
                  <a:lnTo>
                    <a:pt x="5475224" y="3004947"/>
                  </a:lnTo>
                  <a:cubicBezTo>
                    <a:pt x="5475224" y="3096641"/>
                    <a:pt x="5400929" y="3170936"/>
                    <a:pt x="5309235" y="3170936"/>
                  </a:cubicBezTo>
                  <a:lnTo>
                    <a:pt x="165989" y="3170936"/>
                  </a:lnTo>
                  <a:cubicBezTo>
                    <a:pt x="74295" y="3170936"/>
                    <a:pt x="0" y="3096641"/>
                    <a:pt x="0" y="3004947"/>
                  </a:cubicBezTo>
                  <a:close/>
                </a:path>
              </a:pathLst>
            </a:custGeom>
            <a:solidFill>
              <a:srgbClr val="111827"/>
            </a:solidFill>
            <a:ln w="19050" cap="sq">
              <a:solidFill>
                <a:srgbClr val="263041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9683496" y="2551176"/>
            <a:ext cx="493776" cy="493776"/>
            <a:chOff x="0" y="0"/>
            <a:chExt cx="658368" cy="65836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9683496" y="2551176"/>
            <a:ext cx="493776" cy="493776"/>
            <a:chOff x="0" y="0"/>
            <a:chExt cx="658368" cy="65836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658368" cy="6678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0" y="2510028"/>
            <a:ext cx="2990088" cy="576072"/>
            <a:chOff x="0" y="0"/>
            <a:chExt cx="3986784" cy="768096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986784" cy="768096"/>
            </a:xfrm>
            <a:custGeom>
              <a:avLst/>
              <a:gdLst/>
              <a:ahLst/>
              <a:cxnLst/>
              <a:rect r="r" b="b" t="t" l="l"/>
              <a:pathLst>
                <a:path h="768096" w="3986784">
                  <a:moveTo>
                    <a:pt x="0" y="0"/>
                  </a:moveTo>
                  <a:lnTo>
                    <a:pt x="3986784" y="0"/>
                  </a:lnTo>
                  <a:lnTo>
                    <a:pt x="398678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136" r="0" b="-51136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3986784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Statistical Health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683496" y="3264408"/>
            <a:ext cx="3593592" cy="1303020"/>
            <a:chOff x="0" y="0"/>
            <a:chExt cx="4791456" cy="17373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791456" cy="1737360"/>
            </a:xfrm>
            <a:custGeom>
              <a:avLst/>
              <a:gdLst/>
              <a:ahLst/>
              <a:cxnLst/>
              <a:rect r="r" b="b" t="t" l="l"/>
              <a:pathLst>
                <a:path h="1737360" w="4791456">
                  <a:moveTo>
                    <a:pt x="0" y="0"/>
                  </a:moveTo>
                  <a:lnTo>
                    <a:pt x="4791456" y="0"/>
                  </a:lnTo>
                  <a:lnTo>
                    <a:pt x="4791456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37" r="0" b="-373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4791456" cy="1775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SHI trajectory, Z-heatmap, correlation matrix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3733907" y="2322195"/>
            <a:ext cx="4106418" cy="2378202"/>
            <a:chOff x="0" y="0"/>
            <a:chExt cx="5475224" cy="317093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75224" cy="3170936"/>
            </a:xfrm>
            <a:custGeom>
              <a:avLst/>
              <a:gdLst/>
              <a:ahLst/>
              <a:cxnLst/>
              <a:rect r="r" b="b" t="t" l="l"/>
              <a:pathLst>
                <a:path h="3170936" w="5475224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309235" y="0"/>
                  </a:lnTo>
                  <a:cubicBezTo>
                    <a:pt x="5400929" y="0"/>
                    <a:pt x="5475224" y="74295"/>
                    <a:pt x="5475224" y="165989"/>
                  </a:cubicBezTo>
                  <a:lnTo>
                    <a:pt x="5475224" y="3004947"/>
                  </a:lnTo>
                  <a:cubicBezTo>
                    <a:pt x="5475224" y="3096641"/>
                    <a:pt x="5400929" y="3170936"/>
                    <a:pt x="5309235" y="3170936"/>
                  </a:cubicBezTo>
                  <a:lnTo>
                    <a:pt x="165989" y="3170936"/>
                  </a:lnTo>
                  <a:cubicBezTo>
                    <a:pt x="74295" y="3170936"/>
                    <a:pt x="0" y="3096641"/>
                    <a:pt x="0" y="3004947"/>
                  </a:cubicBezTo>
                  <a:close/>
                </a:path>
              </a:pathLst>
            </a:custGeom>
            <a:solidFill>
              <a:srgbClr val="111827"/>
            </a:solidFill>
            <a:ln w="19050" cap="sq">
              <a:solidFill>
                <a:srgbClr val="263041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3990320" y="2551176"/>
            <a:ext cx="493776" cy="493776"/>
            <a:chOff x="0" y="0"/>
            <a:chExt cx="658368" cy="658368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3990320" y="2551176"/>
            <a:ext cx="493776" cy="493776"/>
            <a:chOff x="0" y="0"/>
            <a:chExt cx="658368" cy="658368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9525"/>
              <a:ext cx="658368" cy="6678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4593824" y="2510028"/>
            <a:ext cx="2990088" cy="576072"/>
            <a:chOff x="0" y="0"/>
            <a:chExt cx="3986784" cy="76809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986784" cy="768096"/>
            </a:xfrm>
            <a:custGeom>
              <a:avLst/>
              <a:gdLst/>
              <a:ahLst/>
              <a:cxnLst/>
              <a:rect r="r" b="b" t="t" l="l"/>
              <a:pathLst>
                <a:path h="768096" w="3986784">
                  <a:moveTo>
                    <a:pt x="0" y="0"/>
                  </a:moveTo>
                  <a:lnTo>
                    <a:pt x="3986784" y="0"/>
                  </a:lnTo>
                  <a:lnTo>
                    <a:pt x="398678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136" r="0" b="-51136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"/>
              <a:ext cx="3986784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Failure Forecast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3990320" y="3264408"/>
            <a:ext cx="3593592" cy="1303020"/>
            <a:chOff x="0" y="0"/>
            <a:chExt cx="4791456" cy="173736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791456" cy="1737360"/>
            </a:xfrm>
            <a:custGeom>
              <a:avLst/>
              <a:gdLst/>
              <a:ahLst/>
              <a:cxnLst/>
              <a:rect r="r" b="b" t="t" l="l"/>
              <a:pathLst>
                <a:path h="1737360" w="4791456">
                  <a:moveTo>
                    <a:pt x="0" y="0"/>
                  </a:moveTo>
                  <a:lnTo>
                    <a:pt x="4791456" y="0"/>
                  </a:lnTo>
                  <a:lnTo>
                    <a:pt x="4791456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37" r="0" b="-3737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4791456" cy="1775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Multi-horizon probability curve, RUL interval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813435" y="4955667"/>
            <a:ext cx="4106418" cy="2378202"/>
            <a:chOff x="0" y="0"/>
            <a:chExt cx="5475224" cy="317093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75224" cy="3170936"/>
            </a:xfrm>
            <a:custGeom>
              <a:avLst/>
              <a:gdLst/>
              <a:ahLst/>
              <a:cxnLst/>
              <a:rect r="r" b="b" t="t" l="l"/>
              <a:pathLst>
                <a:path h="3170936" w="5475224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309235" y="0"/>
                  </a:lnTo>
                  <a:cubicBezTo>
                    <a:pt x="5400929" y="0"/>
                    <a:pt x="5475224" y="74295"/>
                    <a:pt x="5475224" y="165989"/>
                  </a:cubicBezTo>
                  <a:lnTo>
                    <a:pt x="5475224" y="3004947"/>
                  </a:lnTo>
                  <a:cubicBezTo>
                    <a:pt x="5475224" y="3096641"/>
                    <a:pt x="5400929" y="3170936"/>
                    <a:pt x="5309235" y="3170936"/>
                  </a:cubicBezTo>
                  <a:lnTo>
                    <a:pt x="165989" y="3170936"/>
                  </a:lnTo>
                  <a:cubicBezTo>
                    <a:pt x="74295" y="3170936"/>
                    <a:pt x="0" y="3096641"/>
                    <a:pt x="0" y="3004947"/>
                  </a:cubicBezTo>
                  <a:close/>
                </a:path>
              </a:pathLst>
            </a:custGeom>
            <a:solidFill>
              <a:srgbClr val="111827"/>
            </a:solidFill>
            <a:ln w="19050" cap="sq">
              <a:solidFill>
                <a:srgbClr val="263041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069848" y="5184648"/>
            <a:ext cx="493776" cy="493776"/>
            <a:chOff x="0" y="0"/>
            <a:chExt cx="658368" cy="658368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069848" y="5184648"/>
            <a:ext cx="493776" cy="493776"/>
            <a:chOff x="0" y="0"/>
            <a:chExt cx="658368" cy="658368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9525"/>
              <a:ext cx="658368" cy="6678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673352" y="5143500"/>
            <a:ext cx="2990088" cy="576072"/>
            <a:chOff x="0" y="0"/>
            <a:chExt cx="3986784" cy="76809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986784" cy="768096"/>
            </a:xfrm>
            <a:custGeom>
              <a:avLst/>
              <a:gdLst/>
              <a:ahLst/>
              <a:cxnLst/>
              <a:rect r="r" b="b" t="t" l="l"/>
              <a:pathLst>
                <a:path h="768096" w="3986784">
                  <a:moveTo>
                    <a:pt x="0" y="0"/>
                  </a:moveTo>
                  <a:lnTo>
                    <a:pt x="3986784" y="0"/>
                  </a:lnTo>
                  <a:lnTo>
                    <a:pt x="398678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136" r="0" b="-51136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9525"/>
              <a:ext cx="3986784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Explainability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069848" y="5897880"/>
            <a:ext cx="3593592" cy="1303020"/>
            <a:chOff x="0" y="0"/>
            <a:chExt cx="4791456" cy="173736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4791456" cy="1737360"/>
            </a:xfrm>
            <a:custGeom>
              <a:avLst/>
              <a:gdLst/>
              <a:ahLst/>
              <a:cxnLst/>
              <a:rect r="r" b="b" t="t" l="l"/>
              <a:pathLst>
                <a:path h="1737360" w="4791456">
                  <a:moveTo>
                    <a:pt x="0" y="0"/>
                  </a:moveTo>
                  <a:lnTo>
                    <a:pt x="4791456" y="0"/>
                  </a:lnTo>
                  <a:lnTo>
                    <a:pt x="4791456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37" r="0" b="-3737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4791456" cy="1775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Evidence cards, sensor contributions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5120259" y="4955667"/>
            <a:ext cx="4106418" cy="2378202"/>
            <a:chOff x="0" y="0"/>
            <a:chExt cx="5475224" cy="3170936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5475224" cy="3170936"/>
            </a:xfrm>
            <a:custGeom>
              <a:avLst/>
              <a:gdLst/>
              <a:ahLst/>
              <a:cxnLst/>
              <a:rect r="r" b="b" t="t" l="l"/>
              <a:pathLst>
                <a:path h="3170936" w="5475224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309235" y="0"/>
                  </a:lnTo>
                  <a:cubicBezTo>
                    <a:pt x="5400929" y="0"/>
                    <a:pt x="5475224" y="74295"/>
                    <a:pt x="5475224" y="165989"/>
                  </a:cubicBezTo>
                  <a:lnTo>
                    <a:pt x="5475224" y="3004947"/>
                  </a:lnTo>
                  <a:cubicBezTo>
                    <a:pt x="5475224" y="3096641"/>
                    <a:pt x="5400929" y="3170936"/>
                    <a:pt x="5309235" y="3170936"/>
                  </a:cubicBezTo>
                  <a:lnTo>
                    <a:pt x="165989" y="3170936"/>
                  </a:lnTo>
                  <a:cubicBezTo>
                    <a:pt x="74295" y="3170936"/>
                    <a:pt x="0" y="3096641"/>
                    <a:pt x="0" y="3004947"/>
                  </a:cubicBezTo>
                  <a:close/>
                </a:path>
              </a:pathLst>
            </a:custGeom>
            <a:solidFill>
              <a:srgbClr val="111827"/>
            </a:solidFill>
            <a:ln w="19050" cap="sq">
              <a:solidFill>
                <a:srgbClr val="263041"/>
              </a:solidFill>
              <a:prstDash val="solid"/>
              <a:miter/>
            </a:ln>
          </p:spPr>
        </p:sp>
      </p:grpSp>
      <p:grpSp>
        <p:nvGrpSpPr>
          <p:cNvPr name="Group 75" id="75"/>
          <p:cNvGrpSpPr/>
          <p:nvPr/>
        </p:nvGrpSpPr>
        <p:grpSpPr>
          <a:xfrm rot="0">
            <a:off x="5376672" y="5184648"/>
            <a:ext cx="493776" cy="493776"/>
            <a:chOff x="0" y="0"/>
            <a:chExt cx="658368" cy="658368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1C7293"/>
            </a:solidFill>
          </p:spPr>
        </p:sp>
      </p:grpSp>
      <p:grpSp>
        <p:nvGrpSpPr>
          <p:cNvPr name="Group 77" id="77"/>
          <p:cNvGrpSpPr/>
          <p:nvPr/>
        </p:nvGrpSpPr>
        <p:grpSpPr>
          <a:xfrm rot="0">
            <a:off x="5376672" y="5184648"/>
            <a:ext cx="493776" cy="493776"/>
            <a:chOff x="0" y="0"/>
            <a:chExt cx="658368" cy="65836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9525"/>
              <a:ext cx="658368" cy="6678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6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5980176" y="5143500"/>
            <a:ext cx="2990088" cy="576072"/>
            <a:chOff x="0" y="0"/>
            <a:chExt cx="3986784" cy="768096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986784" cy="768096"/>
            </a:xfrm>
            <a:custGeom>
              <a:avLst/>
              <a:gdLst/>
              <a:ahLst/>
              <a:cxnLst/>
              <a:rect r="r" b="b" t="t" l="l"/>
              <a:pathLst>
                <a:path h="768096" w="3986784">
                  <a:moveTo>
                    <a:pt x="0" y="0"/>
                  </a:moveTo>
                  <a:lnTo>
                    <a:pt x="3986784" y="0"/>
                  </a:lnTo>
                  <a:lnTo>
                    <a:pt x="398678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136" r="0" b="-51136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9525"/>
              <a:ext cx="3986784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What-If Simulator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5376672" y="5897880"/>
            <a:ext cx="3593592" cy="1303020"/>
            <a:chOff x="0" y="0"/>
            <a:chExt cx="4791456" cy="173736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791456" cy="1737360"/>
            </a:xfrm>
            <a:custGeom>
              <a:avLst/>
              <a:gdLst/>
              <a:ahLst/>
              <a:cxnLst/>
              <a:rect r="r" b="b" t="t" l="l"/>
              <a:pathLst>
                <a:path h="1737360" w="4791456">
                  <a:moveTo>
                    <a:pt x="0" y="0"/>
                  </a:moveTo>
                  <a:lnTo>
                    <a:pt x="4791456" y="0"/>
                  </a:lnTo>
                  <a:lnTo>
                    <a:pt x="4791456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37" r="0" b="-3737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38100"/>
              <a:ext cx="4791456" cy="1775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Sensor sliders, original vs. simulated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9427083" y="4955667"/>
            <a:ext cx="4106418" cy="2378202"/>
            <a:chOff x="0" y="0"/>
            <a:chExt cx="5475224" cy="3170936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5475224" cy="3170936"/>
            </a:xfrm>
            <a:custGeom>
              <a:avLst/>
              <a:gdLst/>
              <a:ahLst/>
              <a:cxnLst/>
              <a:rect r="r" b="b" t="t" l="l"/>
              <a:pathLst>
                <a:path h="3170936" w="5475224">
                  <a:moveTo>
                    <a:pt x="0" y="165989"/>
                  </a:moveTo>
                  <a:cubicBezTo>
                    <a:pt x="0" y="74295"/>
                    <a:pt x="74295" y="0"/>
                    <a:pt x="165989" y="0"/>
                  </a:cubicBezTo>
                  <a:lnTo>
                    <a:pt x="5309235" y="0"/>
                  </a:lnTo>
                  <a:cubicBezTo>
                    <a:pt x="5400929" y="0"/>
                    <a:pt x="5475224" y="74295"/>
                    <a:pt x="5475224" y="165989"/>
                  </a:cubicBezTo>
                  <a:lnTo>
                    <a:pt x="5475224" y="3004947"/>
                  </a:lnTo>
                  <a:cubicBezTo>
                    <a:pt x="5475224" y="3096641"/>
                    <a:pt x="5400929" y="3170936"/>
                    <a:pt x="5309235" y="3170936"/>
                  </a:cubicBezTo>
                  <a:lnTo>
                    <a:pt x="165989" y="3170936"/>
                  </a:lnTo>
                  <a:cubicBezTo>
                    <a:pt x="74295" y="3170936"/>
                    <a:pt x="0" y="3096641"/>
                    <a:pt x="0" y="3004947"/>
                  </a:cubicBezTo>
                  <a:close/>
                </a:path>
              </a:pathLst>
            </a:custGeom>
            <a:solidFill>
              <a:srgbClr val="111827"/>
            </a:solidFill>
            <a:ln w="19050" cap="sq">
              <a:solidFill>
                <a:srgbClr val="263041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9683496" y="5184648"/>
            <a:ext cx="493776" cy="493776"/>
            <a:chOff x="0" y="0"/>
            <a:chExt cx="658368" cy="65836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329184"/>
                  </a:moveTo>
                  <a:cubicBezTo>
                    <a:pt x="0" y="147320"/>
                    <a:pt x="147320" y="0"/>
                    <a:pt x="329184" y="0"/>
                  </a:cubicBezTo>
                  <a:cubicBezTo>
                    <a:pt x="511048" y="0"/>
                    <a:pt x="658368" y="147320"/>
                    <a:pt x="658368" y="329184"/>
                  </a:cubicBezTo>
                  <a:cubicBezTo>
                    <a:pt x="658368" y="511048"/>
                    <a:pt x="511048" y="658368"/>
                    <a:pt x="329184" y="658368"/>
                  </a:cubicBezTo>
                  <a:cubicBezTo>
                    <a:pt x="147320" y="658368"/>
                    <a:pt x="0" y="511048"/>
                    <a:pt x="0" y="329184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9683496" y="5184648"/>
            <a:ext cx="493776" cy="493776"/>
            <a:chOff x="0" y="0"/>
            <a:chExt cx="658368" cy="658368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658368" cy="658368"/>
            </a:xfrm>
            <a:custGeom>
              <a:avLst/>
              <a:gdLst/>
              <a:ahLst/>
              <a:cxnLst/>
              <a:rect r="r" b="b" t="t" l="l"/>
              <a:pathLst>
                <a:path h="658368" w="658368">
                  <a:moveTo>
                    <a:pt x="0" y="0"/>
                  </a:moveTo>
                  <a:lnTo>
                    <a:pt x="658368" y="0"/>
                  </a:lnTo>
                  <a:lnTo>
                    <a:pt x="658368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9525"/>
              <a:ext cx="658368" cy="6678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7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10287000" y="5143500"/>
            <a:ext cx="2990088" cy="576072"/>
            <a:chOff x="0" y="0"/>
            <a:chExt cx="3986784" cy="768096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986784" cy="768096"/>
            </a:xfrm>
            <a:custGeom>
              <a:avLst/>
              <a:gdLst/>
              <a:ahLst/>
              <a:cxnLst/>
              <a:rect r="r" b="b" t="t" l="l"/>
              <a:pathLst>
                <a:path h="768096" w="3986784">
                  <a:moveTo>
                    <a:pt x="0" y="0"/>
                  </a:moveTo>
                  <a:lnTo>
                    <a:pt x="3986784" y="0"/>
                  </a:lnTo>
                  <a:lnTo>
                    <a:pt x="398678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136" r="0" b="-5113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9525"/>
              <a:ext cx="3986784" cy="7776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Model Comparison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9683496" y="5897880"/>
            <a:ext cx="3593592" cy="1303020"/>
            <a:chOff x="0" y="0"/>
            <a:chExt cx="4791456" cy="1737360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4791456" cy="1737360"/>
            </a:xfrm>
            <a:custGeom>
              <a:avLst/>
              <a:gdLst/>
              <a:ahLst/>
              <a:cxnLst/>
              <a:rect r="r" b="b" t="t" l="l"/>
              <a:pathLst>
                <a:path h="1737360" w="4791456">
                  <a:moveTo>
                    <a:pt x="0" y="0"/>
                  </a:moveTo>
                  <a:lnTo>
                    <a:pt x="4791456" y="0"/>
                  </a:lnTo>
                  <a:lnTo>
                    <a:pt x="4791456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37" r="0" b="-3737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4791456" cy="1775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Metrics, ablation forest plot, calibration</a:t>
              </a:r>
            </a:p>
          </p:txBody>
        </p:sp>
      </p:grpSp>
      <p:grpSp>
        <p:nvGrpSpPr>
          <p:cNvPr name="Group 99" id="99"/>
          <p:cNvGrpSpPr/>
          <p:nvPr/>
        </p:nvGrpSpPr>
        <p:grpSpPr>
          <a:xfrm rot="0">
            <a:off x="822960" y="8709660"/>
            <a:ext cx="2194560" cy="480060"/>
            <a:chOff x="0" y="0"/>
            <a:chExt cx="2926080" cy="64008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2926080" cy="640080"/>
            </a:xfrm>
            <a:custGeom>
              <a:avLst/>
              <a:gdLst/>
              <a:ahLst/>
              <a:cxnLst/>
              <a:rect r="r" b="b" t="t" l="l"/>
              <a:pathLst>
                <a:path h="64008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074" r="0" b="-39074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38100"/>
              <a:ext cx="292608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b="true">
                  <a:solidFill>
                    <a:srgbClr val="9FB0B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PROVENANCE:</a:t>
              </a:r>
            </a:p>
          </p:txBody>
        </p:sp>
      </p:grpSp>
      <p:grpSp>
        <p:nvGrpSpPr>
          <p:cNvPr name="Group 102" id="102"/>
          <p:cNvGrpSpPr/>
          <p:nvPr/>
        </p:nvGrpSpPr>
        <p:grpSpPr>
          <a:xfrm rot="0">
            <a:off x="3154680" y="8791956"/>
            <a:ext cx="219456" cy="219456"/>
            <a:chOff x="0" y="0"/>
            <a:chExt cx="292608" cy="29260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92608" cy="292608"/>
            </a:xfrm>
            <a:custGeom>
              <a:avLst/>
              <a:gdLst/>
              <a:ahLst/>
              <a:cxnLst/>
              <a:rect r="r" b="b" t="t" l="l"/>
              <a:pathLst>
                <a:path h="292608" w="29260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cubicBezTo>
                    <a:pt x="227076" y="0"/>
                    <a:pt x="292608" y="65532"/>
                    <a:pt x="292608" y="146304"/>
                  </a:cubicBezTo>
                  <a:cubicBezTo>
                    <a:pt x="292608" y="227076"/>
                    <a:pt x="227076" y="292608"/>
                    <a:pt x="146304" y="292608"/>
                  </a:cubicBezTo>
                  <a:cubicBezTo>
                    <a:pt x="65532" y="292608"/>
                    <a:pt x="0" y="227076"/>
                    <a:pt x="0" y="146304"/>
                  </a:cubicBezTo>
                  <a:close/>
                </a:path>
              </a:pathLst>
            </a:custGeom>
            <a:solidFill>
              <a:srgbClr val="065A82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3456432" y="8709660"/>
            <a:ext cx="2057400" cy="480060"/>
            <a:chOff x="0" y="0"/>
            <a:chExt cx="2743200" cy="640080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2743200" cy="640080"/>
            </a:xfrm>
            <a:custGeom>
              <a:avLst/>
              <a:gdLst/>
              <a:ahLst/>
              <a:cxnLst/>
              <a:rect r="r" b="b" t="t" l="l"/>
              <a:pathLst>
                <a:path h="64008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507" r="0" b="-33507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38100"/>
              <a:ext cx="27432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OBSERVED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5760720" y="8791956"/>
            <a:ext cx="219456" cy="219456"/>
            <a:chOff x="0" y="0"/>
            <a:chExt cx="292608" cy="29260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292608" cy="292608"/>
            </a:xfrm>
            <a:custGeom>
              <a:avLst/>
              <a:gdLst/>
              <a:ahLst/>
              <a:cxnLst/>
              <a:rect r="r" b="b" t="t" l="l"/>
              <a:pathLst>
                <a:path h="292608" w="29260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cubicBezTo>
                    <a:pt x="227076" y="0"/>
                    <a:pt x="292608" y="65532"/>
                    <a:pt x="292608" y="146304"/>
                  </a:cubicBezTo>
                  <a:cubicBezTo>
                    <a:pt x="292608" y="227076"/>
                    <a:pt x="227076" y="292608"/>
                    <a:pt x="146304" y="292608"/>
                  </a:cubicBezTo>
                  <a:cubicBezTo>
                    <a:pt x="65532" y="292608"/>
                    <a:pt x="0" y="227076"/>
                    <a:pt x="0" y="146304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062472" y="8709660"/>
            <a:ext cx="2057400" cy="480060"/>
            <a:chOff x="0" y="0"/>
            <a:chExt cx="2743200" cy="64008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43200" cy="640080"/>
            </a:xfrm>
            <a:custGeom>
              <a:avLst/>
              <a:gdLst/>
              <a:ahLst/>
              <a:cxnLst/>
              <a:rect r="r" b="b" t="t" l="l"/>
              <a:pathLst>
                <a:path h="64008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507" r="0" b="-33507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27432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PREDICTED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8366760" y="8791956"/>
            <a:ext cx="219456" cy="219456"/>
            <a:chOff x="0" y="0"/>
            <a:chExt cx="292608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292608" cy="292608"/>
            </a:xfrm>
            <a:custGeom>
              <a:avLst/>
              <a:gdLst/>
              <a:ahLst/>
              <a:cxnLst/>
              <a:rect r="r" b="b" t="t" l="l"/>
              <a:pathLst>
                <a:path h="292608" w="29260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cubicBezTo>
                    <a:pt x="227076" y="0"/>
                    <a:pt x="292608" y="65532"/>
                    <a:pt x="292608" y="146304"/>
                  </a:cubicBezTo>
                  <a:cubicBezTo>
                    <a:pt x="292608" y="227076"/>
                    <a:pt x="227076" y="292608"/>
                    <a:pt x="146304" y="292608"/>
                  </a:cubicBezTo>
                  <a:cubicBezTo>
                    <a:pt x="65532" y="292608"/>
                    <a:pt x="0" y="227076"/>
                    <a:pt x="0" y="146304"/>
                  </a:cubicBez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8668512" y="8709660"/>
            <a:ext cx="2057400" cy="480060"/>
            <a:chOff x="0" y="0"/>
            <a:chExt cx="2743200" cy="640080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2743200" cy="640080"/>
            </a:xfrm>
            <a:custGeom>
              <a:avLst/>
              <a:gdLst/>
              <a:ahLst/>
              <a:cxnLst/>
              <a:rect r="r" b="b" t="t" l="l"/>
              <a:pathLst>
                <a:path h="640080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507" r="0" b="-33507"/>
              </a:stretch>
            </a:blipFill>
          </p:spPr>
        </p:sp>
        <p:sp>
          <p:nvSpPr>
            <p:cNvPr name="TextBox 116" id="116"/>
            <p:cNvSpPr txBox="true"/>
            <p:nvPr/>
          </p:nvSpPr>
          <p:spPr>
            <a:xfrm>
              <a:off x="0" y="-38100"/>
              <a:ext cx="27432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SIMULATED</a:t>
              </a: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685800" y="9710928"/>
            <a:ext cx="4114800" cy="411480"/>
            <a:chOff x="0" y="0"/>
            <a:chExt cx="5486400" cy="548640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E7B8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STAT-TWIN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6915943" y="9710928"/>
            <a:ext cx="685800" cy="411480"/>
            <a:chOff x="0" y="0"/>
            <a:chExt cx="914400" cy="548640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E7B8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548640"/>
            <a:ext cx="13716000" cy="754380"/>
            <a:chOff x="0" y="0"/>
            <a:chExt cx="18288000" cy="1005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288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4273" r="0" b="-30427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828800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40"/>
                </a:lnSpc>
              </a:pPr>
              <a:r>
                <a:rPr lang="en-US" sz="4200" b="true">
                  <a:solidFill>
                    <a:srgbClr val="15202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Reproducibility &amp; Limitations</a:t>
              </a:r>
            </a:p>
          </p:txBody>
        </p:sp>
      </p:grpSp>
      <p:sp>
        <p:nvSpPr>
          <p:cNvPr name="AutoShape 5" id="5"/>
          <p:cNvSpPr/>
          <p:nvPr/>
        </p:nvSpPr>
        <p:spPr>
          <a:xfrm rot="3960">
            <a:off x="813425" y="1366838"/>
            <a:ext cx="16615420" cy="0"/>
          </a:xfrm>
          <a:prstGeom prst="line">
            <a:avLst/>
          </a:prstGeom>
          <a:ln cap="rnd" w="9525">
            <a:solidFill>
              <a:srgbClr val="E2E8E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822960" y="1645920"/>
            <a:ext cx="8229600" cy="411480"/>
            <a:chOff x="0" y="0"/>
            <a:chExt cx="10972800" cy="5486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10972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225">
                  <a:solidFill>
                    <a:srgbClr val="065A8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EVERY RUN WRITES A MANIFEST.JSON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22960" y="2194560"/>
            <a:ext cx="7818120" cy="521208"/>
            <a:chOff x="0" y="0"/>
            <a:chExt cx="10424160" cy="6949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424160" cy="694944"/>
            </a:xfrm>
            <a:custGeom>
              <a:avLst/>
              <a:gdLst/>
              <a:ahLst/>
              <a:cxnLst/>
              <a:rect r="r" b="b" t="t" l="l"/>
              <a:pathLst>
                <a:path h="694944" w="10424160">
                  <a:moveTo>
                    <a:pt x="0" y="0"/>
                  </a:moveTo>
                  <a:lnTo>
                    <a:pt x="10424160" y="0"/>
                  </a:lnTo>
                  <a:lnTo>
                    <a:pt x="1042416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0424160" cy="7330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 Git commit hash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822960" y="2743200"/>
            <a:ext cx="7818120" cy="521208"/>
            <a:chOff x="0" y="0"/>
            <a:chExt cx="10424160" cy="69494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24160" cy="694944"/>
            </a:xfrm>
            <a:custGeom>
              <a:avLst/>
              <a:gdLst/>
              <a:ahLst/>
              <a:cxnLst/>
              <a:rect r="r" b="b" t="t" l="l"/>
              <a:pathLst>
                <a:path h="694944" w="10424160">
                  <a:moveTo>
                    <a:pt x="0" y="0"/>
                  </a:moveTo>
                  <a:lnTo>
                    <a:pt x="10424160" y="0"/>
                  </a:lnTo>
                  <a:lnTo>
                    <a:pt x="1042416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0424160" cy="7330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 Config hash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22960" y="3291840"/>
            <a:ext cx="7818120" cy="521208"/>
            <a:chOff x="0" y="0"/>
            <a:chExt cx="10424160" cy="694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424160" cy="694944"/>
            </a:xfrm>
            <a:custGeom>
              <a:avLst/>
              <a:gdLst/>
              <a:ahLst/>
              <a:cxnLst/>
              <a:rect r="r" b="b" t="t" l="l"/>
              <a:pathLst>
                <a:path h="694944" w="10424160">
                  <a:moveTo>
                    <a:pt x="0" y="0"/>
                  </a:moveTo>
                  <a:lnTo>
                    <a:pt x="10424160" y="0"/>
                  </a:lnTo>
                  <a:lnTo>
                    <a:pt x="1042416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0424160" cy="7330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 Random seeds (Python, NumPy, PyTorch, XGBoost)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3840480"/>
            <a:ext cx="7818120" cy="521208"/>
            <a:chOff x="0" y="0"/>
            <a:chExt cx="10424160" cy="69494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424160" cy="694944"/>
            </a:xfrm>
            <a:custGeom>
              <a:avLst/>
              <a:gdLst/>
              <a:ahLst/>
              <a:cxnLst/>
              <a:rect r="r" b="b" t="t" l="l"/>
              <a:pathLst>
                <a:path h="694944" w="10424160">
                  <a:moveTo>
                    <a:pt x="0" y="0"/>
                  </a:moveTo>
                  <a:lnTo>
                    <a:pt x="10424160" y="0"/>
                  </a:lnTo>
                  <a:lnTo>
                    <a:pt x="1042416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0424160" cy="7330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 Package versions &amp; platform info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4663440"/>
            <a:ext cx="8229600" cy="411480"/>
            <a:chOff x="0" y="0"/>
            <a:chExt cx="1097280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109728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225">
                  <a:solidFill>
                    <a:srgbClr val="065A8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CONFIGURATION PROFILES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18198" y="5138738"/>
            <a:ext cx="1243965" cy="475869"/>
            <a:chOff x="0" y="0"/>
            <a:chExt cx="1658620" cy="63449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658620" cy="634492"/>
            </a:xfrm>
            <a:custGeom>
              <a:avLst/>
              <a:gdLst/>
              <a:ahLst/>
              <a:cxnLst/>
              <a:rect r="r" b="b" t="t" l="l"/>
              <a:pathLst>
                <a:path h="634492" w="1658620">
                  <a:moveTo>
                    <a:pt x="0" y="0"/>
                  </a:moveTo>
                  <a:lnTo>
                    <a:pt x="1658620" y="0"/>
                  </a:lnTo>
                  <a:lnTo>
                    <a:pt x="165862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21295C"/>
            </a:solidFill>
            <a:ln w="95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822960" y="5143500"/>
            <a:ext cx="1234440" cy="466344"/>
            <a:chOff x="0" y="0"/>
            <a:chExt cx="1645920" cy="62179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645920" cy="621792"/>
            </a:xfrm>
            <a:custGeom>
              <a:avLst/>
              <a:gdLst/>
              <a:ahLst/>
              <a:cxnLst/>
              <a:rect r="r" b="b" t="t" l="l"/>
              <a:pathLst>
                <a:path h="621792" w="1645920">
                  <a:moveTo>
                    <a:pt x="0" y="0"/>
                  </a:moveTo>
                  <a:lnTo>
                    <a:pt x="1645920" y="0"/>
                  </a:lnTo>
                  <a:lnTo>
                    <a:pt x="16459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78" r="0" b="-1578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28575"/>
              <a:ext cx="164592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052638" y="5138738"/>
            <a:ext cx="2066925" cy="475869"/>
            <a:chOff x="0" y="0"/>
            <a:chExt cx="2755900" cy="63449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755900" cy="634492"/>
            </a:xfrm>
            <a:custGeom>
              <a:avLst/>
              <a:gdLst/>
              <a:ahLst/>
              <a:cxnLst/>
              <a:rect r="r" b="b" t="t" l="l"/>
              <a:pathLst>
                <a:path h="634492" w="2755900">
                  <a:moveTo>
                    <a:pt x="0" y="0"/>
                  </a:moveTo>
                  <a:lnTo>
                    <a:pt x="2755900" y="0"/>
                  </a:lnTo>
                  <a:lnTo>
                    <a:pt x="275590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21295C"/>
            </a:solidFill>
            <a:ln w="95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2057400" y="5143500"/>
            <a:ext cx="2057400" cy="466344"/>
            <a:chOff x="0" y="0"/>
            <a:chExt cx="2743200" cy="62179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743200" cy="621792"/>
            </a:xfrm>
            <a:custGeom>
              <a:avLst/>
              <a:gdLst/>
              <a:ahLst/>
              <a:cxnLst/>
              <a:rect r="r" b="b" t="t" l="l"/>
              <a:pathLst>
                <a:path h="621792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963" r="0" b="-35963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274320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Datasets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4110038" y="5138738"/>
            <a:ext cx="1106805" cy="475869"/>
            <a:chOff x="0" y="0"/>
            <a:chExt cx="1475740" cy="63449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75740" cy="634492"/>
            </a:xfrm>
            <a:custGeom>
              <a:avLst/>
              <a:gdLst/>
              <a:ahLst/>
              <a:cxnLst/>
              <a:rect r="r" b="b" t="t" l="l"/>
              <a:pathLst>
                <a:path h="634492" w="1475740">
                  <a:moveTo>
                    <a:pt x="0" y="0"/>
                  </a:moveTo>
                  <a:lnTo>
                    <a:pt x="1475740" y="0"/>
                  </a:lnTo>
                  <a:lnTo>
                    <a:pt x="147574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21295C"/>
            </a:solidFill>
            <a:ln w="95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4114800" y="5143500"/>
            <a:ext cx="1097280" cy="466344"/>
            <a:chOff x="0" y="0"/>
            <a:chExt cx="1463040" cy="62179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463040" cy="621792"/>
            </a:xfrm>
            <a:custGeom>
              <a:avLst/>
              <a:gdLst/>
              <a:ahLst/>
              <a:cxnLst/>
              <a:rect r="r" b="b" t="t" l="l"/>
              <a:pathLst>
                <a:path h="621792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146304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Folds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5207318" y="5138738"/>
            <a:ext cx="1106805" cy="475869"/>
            <a:chOff x="0" y="0"/>
            <a:chExt cx="1475740" cy="63449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475740" cy="634492"/>
            </a:xfrm>
            <a:custGeom>
              <a:avLst/>
              <a:gdLst/>
              <a:ahLst/>
              <a:cxnLst/>
              <a:rect r="r" b="b" t="t" l="l"/>
              <a:pathLst>
                <a:path h="634492" w="1475740">
                  <a:moveTo>
                    <a:pt x="0" y="0"/>
                  </a:moveTo>
                  <a:lnTo>
                    <a:pt x="1475740" y="0"/>
                  </a:lnTo>
                  <a:lnTo>
                    <a:pt x="147574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21295C"/>
            </a:solidFill>
            <a:ln w="95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5212080" y="5143500"/>
            <a:ext cx="1097280" cy="466344"/>
            <a:chOff x="0" y="0"/>
            <a:chExt cx="1463040" cy="62179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463040" cy="621792"/>
            </a:xfrm>
            <a:custGeom>
              <a:avLst/>
              <a:gdLst/>
              <a:ahLst/>
              <a:cxnLst/>
              <a:rect r="r" b="b" t="t" l="l"/>
              <a:pathLst>
                <a:path h="621792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28575"/>
              <a:ext cx="146304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Seeds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304597" y="5138738"/>
            <a:ext cx="2615565" cy="475869"/>
            <a:chOff x="0" y="0"/>
            <a:chExt cx="3487420" cy="63449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487420" cy="634492"/>
            </a:xfrm>
            <a:custGeom>
              <a:avLst/>
              <a:gdLst/>
              <a:ahLst/>
              <a:cxnLst/>
              <a:rect r="r" b="b" t="t" l="l"/>
              <a:pathLst>
                <a:path h="634492" w="3487420">
                  <a:moveTo>
                    <a:pt x="0" y="0"/>
                  </a:moveTo>
                  <a:lnTo>
                    <a:pt x="3487420" y="0"/>
                  </a:lnTo>
                  <a:lnTo>
                    <a:pt x="348742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21295C"/>
            </a:solidFill>
            <a:ln w="952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6309360" y="5143500"/>
            <a:ext cx="2606040" cy="466344"/>
            <a:chOff x="0" y="0"/>
            <a:chExt cx="3474720" cy="62179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474720" cy="621792"/>
            </a:xfrm>
            <a:custGeom>
              <a:avLst/>
              <a:gdLst/>
              <a:ahLst/>
              <a:cxnLst/>
              <a:rect r="r" b="b" t="t" l="l"/>
              <a:pathLst>
                <a:path h="621792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886" r="0" b="-58886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28575"/>
              <a:ext cx="347472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Purpose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818198" y="5605082"/>
            <a:ext cx="1243965" cy="475869"/>
            <a:chOff x="0" y="0"/>
            <a:chExt cx="1658620" cy="6344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658620" cy="634492"/>
            </a:xfrm>
            <a:custGeom>
              <a:avLst/>
              <a:gdLst/>
              <a:ahLst/>
              <a:cxnLst/>
              <a:rect r="r" b="b" t="t" l="l"/>
              <a:pathLst>
                <a:path h="634492" w="1658620">
                  <a:moveTo>
                    <a:pt x="0" y="0"/>
                  </a:moveTo>
                  <a:lnTo>
                    <a:pt x="1658620" y="0"/>
                  </a:lnTo>
                  <a:lnTo>
                    <a:pt x="165862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822960" y="5609844"/>
            <a:ext cx="1234440" cy="466344"/>
            <a:chOff x="0" y="0"/>
            <a:chExt cx="1645920" cy="62179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645920" cy="621792"/>
            </a:xfrm>
            <a:custGeom>
              <a:avLst/>
              <a:gdLst/>
              <a:ahLst/>
              <a:cxnLst/>
              <a:rect r="r" b="b" t="t" l="l"/>
              <a:pathLst>
                <a:path h="621792" w="1645920">
                  <a:moveTo>
                    <a:pt x="0" y="0"/>
                  </a:moveTo>
                  <a:lnTo>
                    <a:pt x="1645920" y="0"/>
                  </a:lnTo>
                  <a:lnTo>
                    <a:pt x="16459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78" r="0" b="-157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9525"/>
              <a:ext cx="1645920" cy="631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smoke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2052638" y="5605082"/>
            <a:ext cx="2066925" cy="475869"/>
            <a:chOff x="0" y="0"/>
            <a:chExt cx="2755900" cy="634492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755900" cy="634492"/>
            </a:xfrm>
            <a:custGeom>
              <a:avLst/>
              <a:gdLst/>
              <a:ahLst/>
              <a:cxnLst/>
              <a:rect r="r" b="b" t="t" l="l"/>
              <a:pathLst>
                <a:path h="634492" w="2755900">
                  <a:moveTo>
                    <a:pt x="0" y="0"/>
                  </a:moveTo>
                  <a:lnTo>
                    <a:pt x="2755900" y="0"/>
                  </a:lnTo>
                  <a:lnTo>
                    <a:pt x="275590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2057400" y="5609844"/>
            <a:ext cx="2057400" cy="466344"/>
            <a:chOff x="0" y="0"/>
            <a:chExt cx="2743200" cy="621792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743200" cy="621792"/>
            </a:xfrm>
            <a:custGeom>
              <a:avLst/>
              <a:gdLst/>
              <a:ahLst/>
              <a:cxnLst/>
              <a:rect r="r" b="b" t="t" l="l"/>
              <a:pathLst>
                <a:path h="621792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963" r="0" b="-35963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274320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synthetic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4110038" y="5605082"/>
            <a:ext cx="1106805" cy="475869"/>
            <a:chOff x="0" y="0"/>
            <a:chExt cx="1475740" cy="634492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475740" cy="634492"/>
            </a:xfrm>
            <a:custGeom>
              <a:avLst/>
              <a:gdLst/>
              <a:ahLst/>
              <a:cxnLst/>
              <a:rect r="r" b="b" t="t" l="l"/>
              <a:pathLst>
                <a:path h="634492" w="1475740">
                  <a:moveTo>
                    <a:pt x="0" y="0"/>
                  </a:moveTo>
                  <a:lnTo>
                    <a:pt x="1475740" y="0"/>
                  </a:lnTo>
                  <a:lnTo>
                    <a:pt x="147574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4114800" y="5609844"/>
            <a:ext cx="1097280" cy="466344"/>
            <a:chOff x="0" y="0"/>
            <a:chExt cx="1463040" cy="62179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463040" cy="621792"/>
            </a:xfrm>
            <a:custGeom>
              <a:avLst/>
              <a:gdLst/>
              <a:ahLst/>
              <a:cxnLst/>
              <a:rect r="r" b="b" t="t" l="l"/>
              <a:pathLst>
                <a:path h="621792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28575"/>
              <a:ext cx="146304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5207318" y="5605082"/>
            <a:ext cx="1106805" cy="475869"/>
            <a:chOff x="0" y="0"/>
            <a:chExt cx="1475740" cy="634492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475740" cy="634492"/>
            </a:xfrm>
            <a:custGeom>
              <a:avLst/>
              <a:gdLst/>
              <a:ahLst/>
              <a:cxnLst/>
              <a:rect r="r" b="b" t="t" l="l"/>
              <a:pathLst>
                <a:path h="634492" w="1475740">
                  <a:moveTo>
                    <a:pt x="0" y="0"/>
                  </a:moveTo>
                  <a:lnTo>
                    <a:pt x="1475740" y="0"/>
                  </a:lnTo>
                  <a:lnTo>
                    <a:pt x="147574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5212080" y="5609844"/>
            <a:ext cx="1097280" cy="466344"/>
            <a:chOff x="0" y="0"/>
            <a:chExt cx="1463040" cy="62179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463040" cy="621792"/>
            </a:xfrm>
            <a:custGeom>
              <a:avLst/>
              <a:gdLst/>
              <a:ahLst/>
              <a:cxnLst/>
              <a:rect r="r" b="b" t="t" l="l"/>
              <a:pathLst>
                <a:path h="621792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28575"/>
              <a:ext cx="146304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6304597" y="5605082"/>
            <a:ext cx="2615565" cy="475869"/>
            <a:chOff x="0" y="0"/>
            <a:chExt cx="3487420" cy="634492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487420" cy="634492"/>
            </a:xfrm>
            <a:custGeom>
              <a:avLst/>
              <a:gdLst/>
              <a:ahLst/>
              <a:cxnLst/>
              <a:rect r="r" b="b" t="t" l="l"/>
              <a:pathLst>
                <a:path h="634492" w="3487420">
                  <a:moveTo>
                    <a:pt x="0" y="0"/>
                  </a:moveTo>
                  <a:lnTo>
                    <a:pt x="3487420" y="0"/>
                  </a:lnTo>
                  <a:lnTo>
                    <a:pt x="348742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6309360" y="5609844"/>
            <a:ext cx="2606040" cy="466344"/>
            <a:chOff x="0" y="0"/>
            <a:chExt cx="3474720" cy="621792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3474720" cy="621792"/>
            </a:xfrm>
            <a:custGeom>
              <a:avLst/>
              <a:gdLst/>
              <a:ahLst/>
              <a:cxnLst/>
              <a:rect r="r" b="b" t="t" l="l"/>
              <a:pathLst>
                <a:path h="621792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886" r="0" b="-58886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28575"/>
              <a:ext cx="347472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CI and unit tests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818198" y="6071425"/>
            <a:ext cx="1243965" cy="475869"/>
            <a:chOff x="0" y="0"/>
            <a:chExt cx="1658620" cy="63449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658620" cy="634492"/>
            </a:xfrm>
            <a:custGeom>
              <a:avLst/>
              <a:gdLst/>
              <a:ahLst/>
              <a:cxnLst/>
              <a:rect r="r" b="b" t="t" l="l"/>
              <a:pathLst>
                <a:path h="634492" w="1658620">
                  <a:moveTo>
                    <a:pt x="0" y="0"/>
                  </a:moveTo>
                  <a:lnTo>
                    <a:pt x="1658620" y="0"/>
                  </a:lnTo>
                  <a:lnTo>
                    <a:pt x="165862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EDF1F4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822960" y="6076188"/>
            <a:ext cx="1234440" cy="466344"/>
            <a:chOff x="0" y="0"/>
            <a:chExt cx="1645920" cy="621792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645920" cy="621792"/>
            </a:xfrm>
            <a:custGeom>
              <a:avLst/>
              <a:gdLst/>
              <a:ahLst/>
              <a:cxnLst/>
              <a:rect r="r" b="b" t="t" l="l"/>
              <a:pathLst>
                <a:path h="621792" w="1645920">
                  <a:moveTo>
                    <a:pt x="0" y="0"/>
                  </a:moveTo>
                  <a:lnTo>
                    <a:pt x="1645920" y="0"/>
                  </a:lnTo>
                  <a:lnTo>
                    <a:pt x="16459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78" r="0" b="-1578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9525"/>
              <a:ext cx="1645920" cy="631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fast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2052638" y="6071425"/>
            <a:ext cx="2066925" cy="475869"/>
            <a:chOff x="0" y="0"/>
            <a:chExt cx="2755900" cy="63449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755900" cy="634492"/>
            </a:xfrm>
            <a:custGeom>
              <a:avLst/>
              <a:gdLst/>
              <a:ahLst/>
              <a:cxnLst/>
              <a:rect r="r" b="b" t="t" l="l"/>
              <a:pathLst>
                <a:path h="634492" w="2755900">
                  <a:moveTo>
                    <a:pt x="0" y="0"/>
                  </a:moveTo>
                  <a:lnTo>
                    <a:pt x="2755900" y="0"/>
                  </a:lnTo>
                  <a:lnTo>
                    <a:pt x="275590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EDF1F4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81" id="81"/>
          <p:cNvGrpSpPr/>
          <p:nvPr/>
        </p:nvGrpSpPr>
        <p:grpSpPr>
          <a:xfrm rot="0">
            <a:off x="2057400" y="6076188"/>
            <a:ext cx="2057400" cy="466344"/>
            <a:chOff x="0" y="0"/>
            <a:chExt cx="2743200" cy="62179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743200" cy="621792"/>
            </a:xfrm>
            <a:custGeom>
              <a:avLst/>
              <a:gdLst/>
              <a:ahLst/>
              <a:cxnLst/>
              <a:rect r="r" b="b" t="t" l="l"/>
              <a:pathLst>
                <a:path h="621792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963" r="0" b="-359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274320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FD001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4110038" y="6071425"/>
            <a:ext cx="1106805" cy="475869"/>
            <a:chOff x="0" y="0"/>
            <a:chExt cx="1475740" cy="634492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475740" cy="634492"/>
            </a:xfrm>
            <a:custGeom>
              <a:avLst/>
              <a:gdLst/>
              <a:ahLst/>
              <a:cxnLst/>
              <a:rect r="r" b="b" t="t" l="l"/>
              <a:pathLst>
                <a:path h="634492" w="1475740">
                  <a:moveTo>
                    <a:pt x="0" y="0"/>
                  </a:moveTo>
                  <a:lnTo>
                    <a:pt x="1475740" y="0"/>
                  </a:lnTo>
                  <a:lnTo>
                    <a:pt x="147574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EDF1F4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86" id="86"/>
          <p:cNvGrpSpPr/>
          <p:nvPr/>
        </p:nvGrpSpPr>
        <p:grpSpPr>
          <a:xfrm rot="0">
            <a:off x="4114800" y="6076188"/>
            <a:ext cx="1097280" cy="466344"/>
            <a:chOff x="0" y="0"/>
            <a:chExt cx="1463040" cy="62179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463040" cy="621792"/>
            </a:xfrm>
            <a:custGeom>
              <a:avLst/>
              <a:gdLst/>
              <a:ahLst/>
              <a:cxnLst/>
              <a:rect r="r" b="b" t="t" l="l"/>
              <a:pathLst>
                <a:path h="621792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146304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5207318" y="6071425"/>
            <a:ext cx="1106805" cy="475869"/>
            <a:chOff x="0" y="0"/>
            <a:chExt cx="1475740" cy="634492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475740" cy="634492"/>
            </a:xfrm>
            <a:custGeom>
              <a:avLst/>
              <a:gdLst/>
              <a:ahLst/>
              <a:cxnLst/>
              <a:rect r="r" b="b" t="t" l="l"/>
              <a:pathLst>
                <a:path h="634492" w="1475740">
                  <a:moveTo>
                    <a:pt x="0" y="0"/>
                  </a:moveTo>
                  <a:lnTo>
                    <a:pt x="1475740" y="0"/>
                  </a:lnTo>
                  <a:lnTo>
                    <a:pt x="147574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EDF1F4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5212080" y="6076188"/>
            <a:ext cx="1097280" cy="466344"/>
            <a:chOff x="0" y="0"/>
            <a:chExt cx="1463040" cy="62179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463040" cy="621792"/>
            </a:xfrm>
            <a:custGeom>
              <a:avLst/>
              <a:gdLst/>
              <a:ahLst/>
              <a:cxnLst/>
              <a:rect r="r" b="b" t="t" l="l"/>
              <a:pathLst>
                <a:path h="621792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28575"/>
              <a:ext cx="146304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6304597" y="6071425"/>
            <a:ext cx="2615565" cy="475869"/>
            <a:chOff x="0" y="0"/>
            <a:chExt cx="3487420" cy="63449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487420" cy="634492"/>
            </a:xfrm>
            <a:custGeom>
              <a:avLst/>
              <a:gdLst/>
              <a:ahLst/>
              <a:cxnLst/>
              <a:rect r="r" b="b" t="t" l="l"/>
              <a:pathLst>
                <a:path h="634492" w="3487420">
                  <a:moveTo>
                    <a:pt x="0" y="0"/>
                  </a:moveTo>
                  <a:lnTo>
                    <a:pt x="3487420" y="0"/>
                  </a:lnTo>
                  <a:lnTo>
                    <a:pt x="348742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EDF1F4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6309360" y="6076188"/>
            <a:ext cx="2606040" cy="466344"/>
            <a:chOff x="0" y="0"/>
            <a:chExt cx="3474720" cy="62179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474720" cy="621792"/>
            </a:xfrm>
            <a:custGeom>
              <a:avLst/>
              <a:gdLst/>
              <a:ahLst/>
              <a:cxnLst/>
              <a:rect r="r" b="b" t="t" l="l"/>
              <a:pathLst>
                <a:path h="621792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886" r="0" b="-5888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28575"/>
              <a:ext cx="347472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Development</a:t>
              </a:r>
            </a:p>
          </p:txBody>
        </p:sp>
      </p:grpSp>
      <p:grpSp>
        <p:nvGrpSpPr>
          <p:cNvPr name="Group 99" id="99"/>
          <p:cNvGrpSpPr/>
          <p:nvPr/>
        </p:nvGrpSpPr>
        <p:grpSpPr>
          <a:xfrm rot="0">
            <a:off x="818198" y="6537770"/>
            <a:ext cx="1243965" cy="475869"/>
            <a:chOff x="0" y="0"/>
            <a:chExt cx="1658620" cy="634492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1658620" cy="634492"/>
            </a:xfrm>
            <a:custGeom>
              <a:avLst/>
              <a:gdLst/>
              <a:ahLst/>
              <a:cxnLst/>
              <a:rect r="r" b="b" t="t" l="l"/>
              <a:pathLst>
                <a:path h="634492" w="1658620">
                  <a:moveTo>
                    <a:pt x="0" y="0"/>
                  </a:moveTo>
                  <a:lnTo>
                    <a:pt x="1658620" y="0"/>
                  </a:lnTo>
                  <a:lnTo>
                    <a:pt x="165862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101" id="101"/>
          <p:cNvGrpSpPr/>
          <p:nvPr/>
        </p:nvGrpSpPr>
        <p:grpSpPr>
          <a:xfrm rot="0">
            <a:off x="822960" y="6542532"/>
            <a:ext cx="1234440" cy="466344"/>
            <a:chOff x="0" y="0"/>
            <a:chExt cx="1645920" cy="621792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1645920" cy="621792"/>
            </a:xfrm>
            <a:custGeom>
              <a:avLst/>
              <a:gdLst/>
              <a:ahLst/>
              <a:cxnLst/>
              <a:rect r="r" b="b" t="t" l="l"/>
              <a:pathLst>
                <a:path h="621792" w="1645920">
                  <a:moveTo>
                    <a:pt x="0" y="0"/>
                  </a:moveTo>
                  <a:lnTo>
                    <a:pt x="1645920" y="0"/>
                  </a:lnTo>
                  <a:lnTo>
                    <a:pt x="16459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78" r="0" b="-1578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9525"/>
              <a:ext cx="1645920" cy="631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full</a:t>
              </a:r>
            </a:p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2052638" y="6537770"/>
            <a:ext cx="2066925" cy="475869"/>
            <a:chOff x="0" y="0"/>
            <a:chExt cx="2755900" cy="634492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2755900" cy="634492"/>
            </a:xfrm>
            <a:custGeom>
              <a:avLst/>
              <a:gdLst/>
              <a:ahLst/>
              <a:cxnLst/>
              <a:rect r="r" b="b" t="t" l="l"/>
              <a:pathLst>
                <a:path h="634492" w="2755900">
                  <a:moveTo>
                    <a:pt x="0" y="0"/>
                  </a:moveTo>
                  <a:lnTo>
                    <a:pt x="2755900" y="0"/>
                  </a:lnTo>
                  <a:lnTo>
                    <a:pt x="275590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106" id="106"/>
          <p:cNvGrpSpPr/>
          <p:nvPr/>
        </p:nvGrpSpPr>
        <p:grpSpPr>
          <a:xfrm rot="0">
            <a:off x="2057400" y="6542532"/>
            <a:ext cx="2057400" cy="466344"/>
            <a:chOff x="0" y="0"/>
            <a:chExt cx="2743200" cy="62179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2743200" cy="621792"/>
            </a:xfrm>
            <a:custGeom>
              <a:avLst/>
              <a:gdLst/>
              <a:ahLst/>
              <a:cxnLst/>
              <a:rect r="r" b="b" t="t" l="l"/>
              <a:pathLst>
                <a:path h="621792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963" r="0" b="-35963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28575"/>
              <a:ext cx="274320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FD001–FD004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4110038" y="6537770"/>
            <a:ext cx="1106805" cy="475869"/>
            <a:chOff x="0" y="0"/>
            <a:chExt cx="1475740" cy="63449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1475740" cy="634492"/>
            </a:xfrm>
            <a:custGeom>
              <a:avLst/>
              <a:gdLst/>
              <a:ahLst/>
              <a:cxnLst/>
              <a:rect r="r" b="b" t="t" l="l"/>
              <a:pathLst>
                <a:path h="634492" w="1475740">
                  <a:moveTo>
                    <a:pt x="0" y="0"/>
                  </a:moveTo>
                  <a:lnTo>
                    <a:pt x="1475740" y="0"/>
                  </a:lnTo>
                  <a:lnTo>
                    <a:pt x="147574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111" id="111"/>
          <p:cNvGrpSpPr/>
          <p:nvPr/>
        </p:nvGrpSpPr>
        <p:grpSpPr>
          <a:xfrm rot="0">
            <a:off x="4114800" y="6542532"/>
            <a:ext cx="1097280" cy="466344"/>
            <a:chOff x="0" y="0"/>
            <a:chExt cx="1463040" cy="62179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1463040" cy="621792"/>
            </a:xfrm>
            <a:custGeom>
              <a:avLst/>
              <a:gdLst/>
              <a:ahLst/>
              <a:cxnLst/>
              <a:rect r="r" b="b" t="t" l="l"/>
              <a:pathLst>
                <a:path h="621792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28575"/>
              <a:ext cx="146304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</a:t>
              </a: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5207318" y="6537770"/>
            <a:ext cx="1106805" cy="475869"/>
            <a:chOff x="0" y="0"/>
            <a:chExt cx="1475740" cy="634492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1475740" cy="634492"/>
            </a:xfrm>
            <a:custGeom>
              <a:avLst/>
              <a:gdLst/>
              <a:ahLst/>
              <a:cxnLst/>
              <a:rect r="r" b="b" t="t" l="l"/>
              <a:pathLst>
                <a:path h="634492" w="1475740">
                  <a:moveTo>
                    <a:pt x="0" y="0"/>
                  </a:moveTo>
                  <a:lnTo>
                    <a:pt x="1475740" y="0"/>
                  </a:lnTo>
                  <a:lnTo>
                    <a:pt x="147574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116" id="116"/>
          <p:cNvGrpSpPr/>
          <p:nvPr/>
        </p:nvGrpSpPr>
        <p:grpSpPr>
          <a:xfrm rot="0">
            <a:off x="5212080" y="6542532"/>
            <a:ext cx="1097280" cy="466344"/>
            <a:chOff x="0" y="0"/>
            <a:chExt cx="1463040" cy="621792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1463040" cy="621792"/>
            </a:xfrm>
            <a:custGeom>
              <a:avLst/>
              <a:gdLst/>
              <a:ahLst/>
              <a:cxnLst/>
              <a:rect r="r" b="b" t="t" l="l"/>
              <a:pathLst>
                <a:path h="621792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529" t="0" r="-4529" b="0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28575"/>
              <a:ext cx="146304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6304597" y="6537770"/>
            <a:ext cx="2615565" cy="475869"/>
            <a:chOff x="0" y="0"/>
            <a:chExt cx="3487420" cy="634492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3487420" cy="634492"/>
            </a:xfrm>
            <a:custGeom>
              <a:avLst/>
              <a:gdLst/>
              <a:ahLst/>
              <a:cxnLst/>
              <a:rect r="r" b="b" t="t" l="l"/>
              <a:pathLst>
                <a:path h="634492" w="3487420">
                  <a:moveTo>
                    <a:pt x="0" y="0"/>
                  </a:moveTo>
                  <a:lnTo>
                    <a:pt x="3487420" y="0"/>
                  </a:lnTo>
                  <a:lnTo>
                    <a:pt x="3487420" y="634492"/>
                  </a:lnTo>
                  <a:lnTo>
                    <a:pt x="0" y="63449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2E8ED"/>
              </a:solidFill>
              <a:prstDash val="solid"/>
              <a:miter/>
            </a:ln>
          </p:spPr>
        </p:sp>
      </p:grpSp>
      <p:grpSp>
        <p:nvGrpSpPr>
          <p:cNvPr name="Group 121" id="121"/>
          <p:cNvGrpSpPr/>
          <p:nvPr/>
        </p:nvGrpSpPr>
        <p:grpSpPr>
          <a:xfrm rot="0">
            <a:off x="6309360" y="6542532"/>
            <a:ext cx="2606040" cy="466344"/>
            <a:chOff x="0" y="0"/>
            <a:chExt cx="3474720" cy="62179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474720" cy="621792"/>
            </a:xfrm>
            <a:custGeom>
              <a:avLst/>
              <a:gdLst/>
              <a:ahLst/>
              <a:cxnLst/>
              <a:rect r="r" b="b" t="t" l="l"/>
              <a:pathLst>
                <a:path h="621792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886" r="0" b="-58886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28575"/>
              <a:ext cx="3474720" cy="6503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15202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Final results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9395460" y="1645920"/>
            <a:ext cx="8023860" cy="7406640"/>
            <a:chOff x="0" y="0"/>
            <a:chExt cx="10698480" cy="9875520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10698480" cy="9875520"/>
            </a:xfrm>
            <a:custGeom>
              <a:avLst/>
              <a:gdLst/>
              <a:ahLst/>
              <a:cxnLst/>
              <a:rect r="r" b="b" t="t" l="l"/>
              <a:pathLst>
                <a:path h="9875520" w="1069848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10515600" y="0"/>
                  </a:lnTo>
                  <a:cubicBezTo>
                    <a:pt x="10616565" y="0"/>
                    <a:pt x="10698480" y="81915"/>
                    <a:pt x="10698480" y="182880"/>
                  </a:cubicBezTo>
                  <a:lnTo>
                    <a:pt x="10698480" y="9692640"/>
                  </a:lnTo>
                  <a:cubicBezTo>
                    <a:pt x="10698480" y="9793605"/>
                    <a:pt x="10616565" y="9875520"/>
                    <a:pt x="10515600" y="9875520"/>
                  </a:cubicBezTo>
                  <a:lnTo>
                    <a:pt x="182880" y="9875520"/>
                  </a:lnTo>
                  <a:cubicBezTo>
                    <a:pt x="81915" y="9875520"/>
                    <a:pt x="0" y="9793605"/>
                    <a:pt x="0" y="9692640"/>
                  </a:cubicBezTo>
                  <a:close/>
                </a:path>
              </a:pathLst>
            </a:custGeom>
            <a:solidFill>
              <a:srgbClr val="0A0E17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9806940" y="1988820"/>
            <a:ext cx="7132320" cy="411480"/>
            <a:chOff x="0" y="0"/>
            <a:chExt cx="9509760" cy="54864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9509760" cy="548640"/>
            </a:xfrm>
            <a:custGeom>
              <a:avLst/>
              <a:gdLst/>
              <a:ahLst/>
              <a:cxnLst/>
              <a:rect r="r" b="b" t="t" l="l"/>
              <a:pathLst>
                <a:path h="54864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7740" r="0" b="-287740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950976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225">
                  <a:solidFill>
                    <a:srgbClr val="F5A62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OPENLY STATED LIMITATIONS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9875520" y="2688336"/>
            <a:ext cx="150876" cy="150876"/>
            <a:chOff x="0" y="0"/>
            <a:chExt cx="201168" cy="20116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218420" y="2468880"/>
            <a:ext cx="6926580" cy="822960"/>
            <a:chOff x="0" y="0"/>
            <a:chExt cx="9235440" cy="1097280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923544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999" r="0" b="-113999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28575"/>
              <a:ext cx="923544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D6E0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C-MAPSS is a simulated dataset with few fault modes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875520" y="3675888"/>
            <a:ext cx="150876" cy="150876"/>
            <a:chOff x="0" y="0"/>
            <a:chExt cx="201168" cy="20116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10218420" y="3456432"/>
            <a:ext cx="6926580" cy="822960"/>
            <a:chOff x="0" y="0"/>
            <a:chExt cx="9235440" cy="1097280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923544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999" r="0" b="-113999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28575"/>
              <a:ext cx="923544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D6E0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Conformal guarantees are marginal and assume exchangeability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9875520" y="4663440"/>
            <a:ext cx="150876" cy="150876"/>
            <a:chOff x="0" y="0"/>
            <a:chExt cx="201168" cy="201168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0218420" y="4443984"/>
            <a:ext cx="6926580" cy="822960"/>
            <a:chOff x="0" y="0"/>
            <a:chExt cx="9235440" cy="1097280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923544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999" r="0" b="-113999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923544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D6E0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State thresholds are conventions unless calibrated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9875520" y="5650992"/>
            <a:ext cx="150876" cy="150876"/>
            <a:chOff x="0" y="0"/>
            <a:chExt cx="201168" cy="20116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146" id="146"/>
          <p:cNvGrpSpPr/>
          <p:nvPr/>
        </p:nvGrpSpPr>
        <p:grpSpPr>
          <a:xfrm rot="0">
            <a:off x="10218420" y="5431536"/>
            <a:ext cx="6926580" cy="822960"/>
            <a:chOff x="0" y="0"/>
            <a:chExt cx="9235440" cy="1097280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923544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999" r="0" b="-113999"/>
              </a:stretch>
            </a:blipFill>
          </p:spPr>
        </p:sp>
        <p:sp>
          <p:nvSpPr>
            <p:cNvPr name="TextBox 148" id="148"/>
            <p:cNvSpPr txBox="true"/>
            <p:nvPr/>
          </p:nvSpPr>
          <p:spPr>
            <a:xfrm>
              <a:off x="0" y="-28575"/>
              <a:ext cx="923544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D6E0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What-If simulator shows model sensitivity, not causal intervention</a:t>
              </a:r>
            </a:p>
          </p:txBody>
        </p:sp>
      </p:grpSp>
      <p:grpSp>
        <p:nvGrpSpPr>
          <p:cNvPr name="Group 149" id="149"/>
          <p:cNvGrpSpPr/>
          <p:nvPr/>
        </p:nvGrpSpPr>
        <p:grpSpPr>
          <a:xfrm rot="0">
            <a:off x="9875520" y="6638544"/>
            <a:ext cx="150876" cy="150876"/>
            <a:chOff x="0" y="0"/>
            <a:chExt cx="201168" cy="201168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151" id="151"/>
          <p:cNvGrpSpPr/>
          <p:nvPr/>
        </p:nvGrpSpPr>
        <p:grpSpPr>
          <a:xfrm rot="0">
            <a:off x="10218420" y="6419088"/>
            <a:ext cx="6926580" cy="822960"/>
            <a:chOff x="0" y="0"/>
            <a:chExt cx="9235440" cy="1097280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923544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999" r="0" b="-113999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923544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D6E0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Hybrid gains may be dataset-specific</a:t>
              </a:r>
            </a:p>
          </p:txBody>
        </p:sp>
      </p:grpSp>
      <p:grpSp>
        <p:nvGrpSpPr>
          <p:cNvPr name="Group 154" id="154"/>
          <p:cNvGrpSpPr/>
          <p:nvPr/>
        </p:nvGrpSpPr>
        <p:grpSpPr>
          <a:xfrm rot="0">
            <a:off x="9875520" y="7626096"/>
            <a:ext cx="150876" cy="150876"/>
            <a:chOff x="0" y="0"/>
            <a:chExt cx="201168" cy="201168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100584"/>
                  </a:moveTo>
                  <a:cubicBezTo>
                    <a:pt x="0" y="45085"/>
                    <a:pt x="45085" y="0"/>
                    <a:pt x="100584" y="0"/>
                  </a:cubicBezTo>
                  <a:cubicBezTo>
                    <a:pt x="156083" y="0"/>
                    <a:pt x="201168" y="45085"/>
                    <a:pt x="201168" y="100584"/>
                  </a:cubicBezTo>
                  <a:cubicBezTo>
                    <a:pt x="201168" y="156083"/>
                    <a:pt x="156083" y="201168"/>
                    <a:pt x="100584" y="201168"/>
                  </a:cubicBezTo>
                  <a:cubicBezTo>
                    <a:pt x="45085" y="201168"/>
                    <a:pt x="0" y="156083"/>
                    <a:pt x="0" y="100584"/>
                  </a:cubicBezTo>
                  <a:close/>
                </a:path>
              </a:pathLst>
            </a:custGeom>
            <a:solidFill>
              <a:srgbClr val="F5A623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0218420" y="7406640"/>
            <a:ext cx="6926580" cy="822960"/>
            <a:chOff x="0" y="0"/>
            <a:chExt cx="9235440" cy="1097280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923544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235440">
                  <a:moveTo>
                    <a:pt x="0" y="0"/>
                  </a:moveTo>
                  <a:lnTo>
                    <a:pt x="9235440" y="0"/>
                  </a:lnTo>
                  <a:lnTo>
                    <a:pt x="92354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999" r="0" b="-113999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28575"/>
              <a:ext cx="923544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D6E0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Results depend on RUL clipping and horizon choices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685800" y="9710928"/>
            <a:ext cx="4114800" cy="411480"/>
            <a:chOff x="0" y="0"/>
            <a:chExt cx="5486400" cy="548640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STAT-TWIN</a:t>
              </a:r>
            </a:p>
          </p:txBody>
        </p:sp>
      </p:grpSp>
      <p:grpSp>
        <p:nvGrpSpPr>
          <p:cNvPr name="Group 162" id="162"/>
          <p:cNvGrpSpPr/>
          <p:nvPr/>
        </p:nvGrpSpPr>
        <p:grpSpPr>
          <a:xfrm rot="0">
            <a:off x="16915943" y="9710928"/>
            <a:ext cx="685800" cy="411480"/>
            <a:chOff x="0" y="0"/>
            <a:chExt cx="914400" cy="548640"/>
          </a:xfrm>
        </p:grpSpPr>
        <p:sp>
          <p:nvSpPr>
            <p:cNvPr name="Freeform 163" id="16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64" id="164"/>
            <p:cNvSpPr txBox="true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5B6B7A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13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595131" y="1239080"/>
            <a:ext cx="1097280" cy="1097280"/>
            <a:chOff x="0" y="0"/>
            <a:chExt cx="1463040" cy="1463040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1463040" cy="1463040"/>
              <a:chOff x="0" y="0"/>
              <a:chExt cx="1463040" cy="1463040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1463040" cy="1463040"/>
              </a:xfrm>
              <a:custGeom>
                <a:avLst/>
                <a:gdLst/>
                <a:ahLst/>
                <a:cxnLst/>
                <a:rect r="r" b="b" t="t" l="l"/>
                <a:pathLst>
                  <a:path h="1463040" w="1463040">
                    <a:moveTo>
                      <a:pt x="0" y="731520"/>
                    </a:moveTo>
                    <a:cubicBezTo>
                      <a:pt x="0" y="327533"/>
                      <a:pt x="327533" y="0"/>
                      <a:pt x="731520" y="0"/>
                    </a:cubicBezTo>
                    <a:cubicBezTo>
                      <a:pt x="1135507" y="0"/>
                      <a:pt x="1463040" y="327533"/>
                      <a:pt x="1463040" y="731520"/>
                    </a:cubicBezTo>
                    <a:cubicBezTo>
                      <a:pt x="1463040" y="1135507"/>
                      <a:pt x="1135507" y="1463040"/>
                      <a:pt x="731520" y="1463040"/>
                    </a:cubicBezTo>
                    <a:cubicBezTo>
                      <a:pt x="327533" y="1463040"/>
                      <a:pt x="0" y="1135507"/>
                      <a:pt x="0" y="731520"/>
                    </a:cubicBezTo>
                    <a:close/>
                  </a:path>
                </a:pathLst>
              </a:custGeom>
              <a:solidFill>
                <a:srgbClr val="065A82"/>
              </a:solidFill>
            </p:spPr>
          </p:sp>
        </p:grpSp>
        <p:grpSp>
          <p:nvGrpSpPr>
            <p:cNvPr name="Group 5" id="5"/>
            <p:cNvGrpSpPr/>
            <p:nvPr/>
          </p:nvGrpSpPr>
          <p:grpSpPr>
            <a:xfrm rot="0">
              <a:off x="0" y="0"/>
              <a:ext cx="1463040" cy="1463040"/>
              <a:chOff x="0" y="0"/>
              <a:chExt cx="1463040" cy="146304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1463040" cy="1463040"/>
              </a:xfrm>
              <a:custGeom>
                <a:avLst/>
                <a:gdLst/>
                <a:ahLst/>
                <a:cxnLst/>
                <a:rect r="r" b="b" t="t" l="l"/>
                <a:pathLst>
                  <a:path h="1463040" w="1463040">
                    <a:moveTo>
                      <a:pt x="0" y="0"/>
                    </a:moveTo>
                    <a:lnTo>
                      <a:pt x="1463040" y="0"/>
                    </a:lnTo>
                    <a:lnTo>
                      <a:pt x="1463040" y="1463040"/>
                    </a:lnTo>
                    <a:lnTo>
                      <a:pt x="0" y="14630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9525"/>
                <a:ext cx="1463040" cy="147256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960"/>
                  </a:lnSpc>
                </a:pPr>
                <a:r>
                  <a:rPr lang="en-US" sz="3300" b="true">
                    <a:solidFill>
                      <a:srgbClr val="FFFFFF"/>
                    </a:solidFill>
                    <a:latin typeface="Cambria Bold"/>
                    <a:ea typeface="Cambria Bold"/>
                    <a:cs typeface="Cambria Bold"/>
                    <a:sym typeface="Cambria Bold"/>
                  </a:rPr>
                  <a:t>ST</a:t>
                </a:r>
              </a:p>
            </p:txBody>
          </p:sp>
        </p:grpSp>
      </p:grpSp>
      <p:grpSp>
        <p:nvGrpSpPr>
          <p:cNvPr name="Group 8" id="8"/>
          <p:cNvGrpSpPr/>
          <p:nvPr/>
        </p:nvGrpSpPr>
        <p:grpSpPr>
          <a:xfrm rot="0">
            <a:off x="457" y="3203135"/>
            <a:ext cx="18287543" cy="1234440"/>
            <a:chOff x="0" y="0"/>
            <a:chExt cx="24383390" cy="1645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3391" cy="1645920"/>
            </a:xfrm>
            <a:custGeom>
              <a:avLst/>
              <a:gdLst/>
              <a:ahLst/>
              <a:cxnLst/>
              <a:rect r="r" b="b" t="t" l="l"/>
              <a:pathLst>
                <a:path h="1645920" w="24383391">
                  <a:moveTo>
                    <a:pt x="0" y="0"/>
                  </a:moveTo>
                  <a:lnTo>
                    <a:pt x="24383391" y="0"/>
                  </a:lnTo>
                  <a:lnTo>
                    <a:pt x="24383391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8660" r="0" b="-23866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24383390" cy="16649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559"/>
                </a:lnSpc>
              </a:pPr>
              <a:r>
                <a:rPr lang="en-US" sz="63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STAT-TWIN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57" y="4897509"/>
            <a:ext cx="18287543" cy="685800"/>
            <a:chOff x="0" y="0"/>
            <a:chExt cx="24383390" cy="9144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383391" cy="914400"/>
            </a:xfrm>
            <a:custGeom>
              <a:avLst/>
              <a:gdLst/>
              <a:ahLst/>
              <a:cxnLst/>
              <a:rect r="r" b="b" t="t" l="l"/>
              <a:pathLst>
                <a:path h="914400" w="24383391">
                  <a:moveTo>
                    <a:pt x="0" y="0"/>
                  </a:moveTo>
                  <a:lnTo>
                    <a:pt x="24383391" y="0"/>
                  </a:lnTo>
                  <a:lnTo>
                    <a:pt x="24383391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588" r="0" b="-469588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2438339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59"/>
                </a:lnSpc>
              </a:pPr>
              <a:r>
                <a:rPr lang="en-US" sz="2549" i="true">
                  <a:solidFill>
                    <a:srgbClr val="9FB0B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Statistical evidence. Calibrated confidence. Explainable predictions.</a:t>
              </a:r>
            </a:p>
          </p:txBody>
        </p:sp>
      </p:grpSp>
      <p:sp>
        <p:nvSpPr>
          <p:cNvPr name="AutoShape 14" id="14"/>
          <p:cNvSpPr/>
          <p:nvPr/>
        </p:nvSpPr>
        <p:spPr>
          <a:xfrm>
            <a:off x="7072543" y="6050034"/>
            <a:ext cx="4143372" cy="28565"/>
          </a:xfrm>
          <a:prstGeom prst="line">
            <a:avLst/>
          </a:prstGeom>
          <a:ln cap="rnd" w="19050">
            <a:solidFill>
              <a:srgbClr val="1C729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457" y="6794753"/>
            <a:ext cx="18287543" cy="548640"/>
            <a:chOff x="0" y="0"/>
            <a:chExt cx="24383390" cy="7315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383391" cy="731520"/>
            </a:xfrm>
            <a:custGeom>
              <a:avLst/>
              <a:gdLst/>
              <a:ahLst/>
              <a:cxnLst/>
              <a:rect r="r" b="b" t="t" l="l"/>
              <a:pathLst>
                <a:path h="731520" w="24383391">
                  <a:moveTo>
                    <a:pt x="0" y="0"/>
                  </a:moveTo>
                  <a:lnTo>
                    <a:pt x="24383391" y="0"/>
                  </a:lnTo>
                  <a:lnTo>
                    <a:pt x="2438339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99485" r="0" b="-59948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2438339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69"/>
                </a:lnSpc>
              </a:pPr>
              <a:r>
                <a:rPr lang="en-US" sz="2724">
                  <a:solidFill>
                    <a:srgbClr val="AEBDC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Built with the NASA C-MAPSS turbofan degradation dataset (Saxena et al., 2008)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0" y="9052560"/>
            <a:ext cx="18287543" cy="548640"/>
            <a:chOff x="0" y="0"/>
            <a:chExt cx="24383390" cy="7315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4383391" cy="731520"/>
            </a:xfrm>
            <a:custGeom>
              <a:avLst/>
              <a:gdLst/>
              <a:ahLst/>
              <a:cxnLst/>
              <a:rect r="r" b="b" t="t" l="l"/>
              <a:pathLst>
                <a:path h="731520" w="24383391">
                  <a:moveTo>
                    <a:pt x="0" y="0"/>
                  </a:moveTo>
                  <a:lnTo>
                    <a:pt x="24383391" y="0"/>
                  </a:lnTo>
                  <a:lnTo>
                    <a:pt x="2438339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99485" r="0" b="-599485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2438339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6E7B8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Licensed under MIT  · </a:t>
              </a:r>
              <a:r>
                <a:rPr lang="en-US" sz="1575" u="sng">
                  <a:solidFill>
                    <a:srgbClr val="6E7B8B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4" tooltip="https://github.com/vishu1120059185/SMLD-ML-MODEL"/>
                </a:rPr>
                <a:t> github.com//STAT-TWIN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737131" y="7343393"/>
            <a:ext cx="14813280" cy="862988"/>
            <a:chOff x="0" y="0"/>
            <a:chExt cx="19751040" cy="115065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751039" cy="1150650"/>
            </a:xfrm>
            <a:custGeom>
              <a:avLst/>
              <a:gdLst/>
              <a:ahLst/>
              <a:cxnLst/>
              <a:rect r="r" b="b" t="t" l="l"/>
              <a:pathLst>
                <a:path h="115065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1150650"/>
                  </a:lnTo>
                  <a:lnTo>
                    <a:pt x="0" y="11506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6781" r="0" b="-282143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66675"/>
              <a:ext cx="19751040" cy="1217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C7D2D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Vishwesh Penkar - 44 &amp; Daksh Patil - 32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31341" y="8206380"/>
            <a:ext cx="16024860" cy="768096"/>
            <a:chOff x="0" y="0"/>
            <a:chExt cx="21366480" cy="102412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366480" cy="1024128"/>
            </a:xfrm>
            <a:custGeom>
              <a:avLst/>
              <a:gdLst/>
              <a:ahLst/>
              <a:cxnLst/>
              <a:rect r="r" b="b" t="t" l="l"/>
              <a:pathLst>
                <a:path h="1024128" w="21366480">
                  <a:moveTo>
                    <a:pt x="0" y="0"/>
                  </a:moveTo>
                  <a:lnTo>
                    <a:pt x="21366480" y="0"/>
                  </a:lnTo>
                  <a:lnTo>
                    <a:pt x="213664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3672" r="17831" b="-314386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21366480" cy="1071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909"/>
                </a:lnSpc>
              </a:pPr>
              <a:r>
                <a:rPr lang="en-US" sz="2424" i="true">
                  <a:solidFill>
                    <a:srgbClr val="9FB0B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Guided by Rashmi Saratkar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DAHV_KqN75Y</dc:identifier>
  <dcterms:modified xsi:type="dcterms:W3CDTF">2011-08-01T06:04:30Z</dcterms:modified>
  <cp:revision>1</cp:revision>
  <dc:title>STAT-TWIN.pptx</dc:title>
</cp:coreProperties>
</file>