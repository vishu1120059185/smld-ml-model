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" y="91440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2103120" y="182880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329184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1737360" y="475488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3108960" y="82296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2834640" y="402336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0" y="100584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10241280" y="237744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11338560" y="365760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9875520" y="512064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10972800" y="585216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2377440" y="603504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6858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6858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2960" y="2331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DIGITAL TWIN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26974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STAT-TWIN</a:t>
            </a:r>
            <a:endParaRPr lang="en-US" sz="6000" dirty="0"/>
          </a:p>
        </p:txBody>
      </p:sp>
      <p:sp>
        <p:nvSpPr>
          <p:cNvPr id="19" name="Text 17"/>
          <p:cNvSpPr/>
          <p:nvPr/>
        </p:nvSpPr>
        <p:spPr>
          <a:xfrm>
            <a:off x="822960" y="379476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Failure Forecasting &amp; Predictive Maintenance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22960" y="4526280"/>
            <a:ext cx="27432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75488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research platform that doesn't just predict a failure — it shows the evidence, states its confidence, and tests its own claims.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22960" y="6172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NASA C-MAPSS turbofan degradation data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is not an answer — STAT-TWIN gives a reason and a confidence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E2E8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773936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statistical model of normal behaviour for each engine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642616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how the engine drifts away from that baseline over time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5661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3511296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failure probability 10–50 cycles ahead, with calibrated uncertainty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4348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4379976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which sensors and statistics are driving the risk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0" y="1828800"/>
            <a:ext cx="4800600" cy="4023360"/>
          </a:xfrm>
          <a:prstGeom prst="roundRect">
            <a:avLst>
              <a:gd name="adj" fmla="val 2727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A1A1A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23760" y="2103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 CASES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69480" y="2651760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7543800" y="24688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research project / ML-statistics demonstration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269480" y="3429000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7543800" y="32461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 implementation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269480" y="4206240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7543800" y="40233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presentation &amp; viva preparation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269480" y="4983480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7543800" y="48006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industrial expansion (dataset-agnostic design)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STAT-TWIN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11182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234440"/>
            <a:ext cx="10424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i="1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combining statistical health indicators with temporal ML improve early failure detection, RUL estimation, and prediction reliability — compared with threshold-based and ML-only approaches?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16203A"/>
          </a:solidFill>
          <a:ln w="9525">
            <a:solidFill>
              <a:srgbClr val="5B6B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04495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A0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health indicators do not improve predictive performance.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304495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37960" y="347472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health indicators improve predictive performance.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617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is tested with a leakage-safe ablation (variants A–E), paired Wilcoxon signed-rank tests, bootstrap confidence intervals, and Holm-Bonferroni correction.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51663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DESIGN PRINCIPLES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546811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Research validity beats adding technologies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51960" y="546811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Prevent data leakage at every stage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955280" y="546811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Every metric has a defined evaluation protocol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577900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Never fabricate performance numbers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251960" y="577900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Statistics is a core component, not decoration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955280" y="577900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Every important prediction is explainable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089904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Experiments are reproducible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STAT-TWIN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telemetry to explainable, uncertainty-aware forecasts — one linear pipeline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11880" cy="1572768"/>
          </a:xfrm>
          <a:prstGeom prst="roundRect">
            <a:avLst>
              <a:gd name="adj" fmla="val 5233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618488"/>
            <a:ext cx="402336" cy="402336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184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2130552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Ingestion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496312"/>
            <a:ext cx="3209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Unit-level split (GroupKFold), no leakage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60520" y="1975104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25112" y="1417320"/>
            <a:ext cx="3611880" cy="1572768"/>
          </a:xfrm>
          <a:prstGeom prst="roundRect">
            <a:avLst>
              <a:gd name="adj" fmla="val 5233"/>
            </a:avLst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4526280" y="1618488"/>
            <a:ext cx="402336" cy="402336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6184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6280" y="2130552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26280" y="2496312"/>
            <a:ext cx="3209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values, outliers, scaling, DQ flags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936992" y="1975104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01584" y="1417320"/>
            <a:ext cx="3611880" cy="1572768"/>
          </a:xfrm>
          <a:prstGeom prst="roundRect">
            <a:avLst>
              <a:gd name="adj" fmla="val 5233"/>
            </a:avLst>
          </a:prstGeom>
          <a:solidFill>
            <a:srgbClr val="065A82"/>
          </a:solidFill>
          <a:ln/>
        </p:spPr>
      </p:sp>
      <p:sp>
        <p:nvSpPr>
          <p:cNvPr id="17" name="Shape 15"/>
          <p:cNvSpPr/>
          <p:nvPr/>
        </p:nvSpPr>
        <p:spPr>
          <a:xfrm>
            <a:off x="8302752" y="1618488"/>
            <a:ext cx="402336" cy="402336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8302752" y="16184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02752" y="2130552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Engine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302752" y="2496312"/>
            <a:ext cx="3209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stats, EWMA, trend, correlation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154680"/>
            <a:ext cx="3611880" cy="1572768"/>
          </a:xfrm>
          <a:prstGeom prst="roundRect">
            <a:avLst>
              <a:gd name="adj" fmla="val 5233"/>
            </a:avLst>
          </a:prstGeom>
          <a:solidFill>
            <a:srgbClr val="1C7293"/>
          </a:solidFill>
          <a:ln/>
        </p:spPr>
      </p:sp>
      <p:sp>
        <p:nvSpPr>
          <p:cNvPr id="22" name="Shape 20"/>
          <p:cNvSpPr/>
          <p:nvPr/>
        </p:nvSpPr>
        <p:spPr>
          <a:xfrm>
            <a:off x="749808" y="3355848"/>
            <a:ext cx="402336" cy="402336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33558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9808" y="3867912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Engine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49808" y="4233672"/>
            <a:ext cx="3209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 0–100, 5 health states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160520" y="3712464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325112" y="3154680"/>
            <a:ext cx="3611880" cy="1572768"/>
          </a:xfrm>
          <a:prstGeom prst="roundRect">
            <a:avLst>
              <a:gd name="adj" fmla="val 5233"/>
            </a:avLst>
          </a:prstGeom>
          <a:solidFill>
            <a:srgbClr val="065A82"/>
          </a:solidFill>
          <a:ln/>
        </p:spPr>
      </p:sp>
      <p:sp>
        <p:nvSpPr>
          <p:cNvPr id="28" name="Shape 26"/>
          <p:cNvSpPr/>
          <p:nvPr/>
        </p:nvSpPr>
        <p:spPr>
          <a:xfrm>
            <a:off x="4526280" y="3355848"/>
            <a:ext cx="402336" cy="402336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9" name="Text 27"/>
          <p:cNvSpPr/>
          <p:nvPr/>
        </p:nvSpPr>
        <p:spPr>
          <a:xfrm>
            <a:off x="4526280" y="33558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26280" y="3867912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Layer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526280" y="4233672"/>
            <a:ext cx="3209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model families, shared interface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936992" y="3712464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101584" y="3154680"/>
            <a:ext cx="3611880" cy="1572768"/>
          </a:xfrm>
          <a:prstGeom prst="roundRect">
            <a:avLst>
              <a:gd name="adj" fmla="val 5233"/>
            </a:avLst>
          </a:prstGeom>
          <a:solidFill>
            <a:srgbClr val="1C7293"/>
          </a:solidFill>
          <a:ln/>
        </p:spPr>
      </p:sp>
      <p:sp>
        <p:nvSpPr>
          <p:cNvPr id="34" name="Shape 32"/>
          <p:cNvSpPr/>
          <p:nvPr/>
        </p:nvSpPr>
        <p:spPr>
          <a:xfrm>
            <a:off x="8302752" y="3355848"/>
            <a:ext cx="402336" cy="402336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5" name="Text 33"/>
          <p:cNvSpPr/>
          <p:nvPr/>
        </p:nvSpPr>
        <p:spPr>
          <a:xfrm>
            <a:off x="8302752" y="33558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302752" y="3867912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8302752" y="4233672"/>
            <a:ext cx="3209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Multi-horizon probability, RUL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4892040"/>
            <a:ext cx="3611880" cy="1572768"/>
          </a:xfrm>
          <a:prstGeom prst="roundRect">
            <a:avLst>
              <a:gd name="adj" fmla="val 5233"/>
            </a:avLst>
          </a:prstGeom>
          <a:solidFill>
            <a:srgbClr val="065A82"/>
          </a:solidFill>
          <a:ln/>
        </p:spPr>
      </p:sp>
      <p:sp>
        <p:nvSpPr>
          <p:cNvPr id="39" name="Shape 37"/>
          <p:cNvSpPr/>
          <p:nvPr/>
        </p:nvSpPr>
        <p:spPr>
          <a:xfrm>
            <a:off x="749808" y="5093208"/>
            <a:ext cx="402336" cy="402336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40" name="Text 38"/>
          <p:cNvSpPr/>
          <p:nvPr/>
        </p:nvSpPr>
        <p:spPr>
          <a:xfrm>
            <a:off x="749808" y="50932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49808" y="5605272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Uncertainty &amp; Calibration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749808" y="5971032"/>
            <a:ext cx="3209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Conformal intervals, isotonic calibration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160520" y="5449824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325112" y="4892040"/>
            <a:ext cx="3611880" cy="1572768"/>
          </a:xfrm>
          <a:prstGeom prst="roundRect">
            <a:avLst>
              <a:gd name="adj" fmla="val 5233"/>
            </a:avLst>
          </a:prstGeom>
          <a:solidFill>
            <a:srgbClr val="1C7293"/>
          </a:solidFill>
          <a:ln/>
        </p:spPr>
      </p:sp>
      <p:sp>
        <p:nvSpPr>
          <p:cNvPr id="45" name="Shape 43"/>
          <p:cNvSpPr/>
          <p:nvPr/>
        </p:nvSpPr>
        <p:spPr>
          <a:xfrm>
            <a:off x="4526280" y="5093208"/>
            <a:ext cx="402336" cy="402336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46" name="Text 44"/>
          <p:cNvSpPr/>
          <p:nvPr/>
        </p:nvSpPr>
        <p:spPr>
          <a:xfrm>
            <a:off x="4526280" y="50932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4526280" y="5605272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4526280" y="5971032"/>
            <a:ext cx="3209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cards, occlusion, risk decomposition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936992" y="5449824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101584" y="4892040"/>
            <a:ext cx="3611880" cy="1572768"/>
          </a:xfrm>
          <a:prstGeom prst="roundRect">
            <a:avLst>
              <a:gd name="adj" fmla="val 5233"/>
            </a:avLst>
          </a:prstGeom>
          <a:solidFill>
            <a:srgbClr val="065A82"/>
          </a:solidFill>
          <a:ln/>
        </p:spPr>
      </p:sp>
      <p:sp>
        <p:nvSpPr>
          <p:cNvPr id="51" name="Shape 49"/>
          <p:cNvSpPr/>
          <p:nvPr/>
        </p:nvSpPr>
        <p:spPr>
          <a:xfrm>
            <a:off x="8302752" y="5093208"/>
            <a:ext cx="402336" cy="402336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52" name="Text 50"/>
          <p:cNvSpPr/>
          <p:nvPr/>
        </p:nvSpPr>
        <p:spPr>
          <a:xfrm>
            <a:off x="8302752" y="50932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8302752" y="5605272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What-If Simulator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8302752" y="5971032"/>
            <a:ext cx="3209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 → recompute → re-predict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STAT-TWIN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1064240" cy="0"/>
          </a:xfrm>
          <a:prstGeom prst="line">
            <a:avLst/>
          </a:prstGeom>
          <a:noFill/>
          <a:ln w="12700">
            <a:solidFill>
              <a:srgbClr val="E2E8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26974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63500" dist="25400" dir="5400000">
              <a:srgbClr val="8896A6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43560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435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77824" y="1563624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5740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Leakage Guard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suite proving no data leakage across the pipeline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19856" y="1234440"/>
            <a:ext cx="26974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63500" dist="25400" dir="5400000">
              <a:srgbClr val="8896A6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21024" y="143560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621024" y="1435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749040" y="1563624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3602736" y="205740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Health Index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602736" y="26517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 indicator combining deviation, trend, EWMA, variance, correlation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91072" y="1234440"/>
            <a:ext cx="26974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63500" dist="25400" dir="5400000">
              <a:srgbClr val="8896A6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92240" y="1435608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1435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620256" y="1563624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73952" y="205740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Model Baselines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73952" y="26517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Threshold, Mahalanobis, LogReg, Random Forest, XGBoost, GRU, Hybrid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62288" y="1234440"/>
            <a:ext cx="26974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63500" dist="25400" dir="5400000">
              <a:srgbClr val="8896A6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63456" y="143560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9363456" y="1435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491472" y="1563624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9345168" y="205740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Multi-Horizon Forecasting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345168" y="26517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P(failure within h) for h in {10,20,30,40,50}, monotone-enforced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794760"/>
            <a:ext cx="26974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63500" dist="25400" dir="5400000">
              <a:srgbClr val="8896A6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49808" y="399592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" y="3995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77824" y="4123944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46177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Conformal RUL Intervals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31520" y="52120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Distribution-free prediction intervals with coverage guarantees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419856" y="3794760"/>
            <a:ext cx="26974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63500" dist="25400" dir="5400000">
              <a:srgbClr val="8896A6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21024" y="3995928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6" name="Text 34"/>
          <p:cNvSpPr/>
          <p:nvPr/>
        </p:nvSpPr>
        <p:spPr>
          <a:xfrm>
            <a:off x="3621024" y="3995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749040" y="4123944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3602736" y="46177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Probability Calibration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3602736" y="52120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Isotonic / Platt calibration, reliability diagrams, Brier, ECE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91072" y="3794760"/>
            <a:ext cx="26974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63500" dist="25400" dir="5400000">
              <a:srgbClr val="8896A6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492240" y="399592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2" name="Text 40"/>
          <p:cNvSpPr/>
          <p:nvPr/>
        </p:nvSpPr>
        <p:spPr>
          <a:xfrm>
            <a:off x="6492240" y="3995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620256" y="4123944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6473952" y="46177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6473952" y="52120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cards, group occlusion, risk-change decomposition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162288" y="3794760"/>
            <a:ext cx="26974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63500" dist="25400" dir="5400000">
              <a:srgbClr val="8896A6">
                <a:alpha val="2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9363456" y="399592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8" name="Text 46"/>
          <p:cNvSpPr/>
          <p:nvPr/>
        </p:nvSpPr>
        <p:spPr>
          <a:xfrm>
            <a:off x="9363456" y="3995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9491472" y="4123944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9345168" y="46177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What-If Simulator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9345168" y="52120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 sensors, recompute, re-predict — clearly labelled simulation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STAT-TWIN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Statistical Health Index (SHI)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0–100 health indicator built from five statistical evidence components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017520" cy="4297680"/>
          </a:xfrm>
          <a:prstGeom prst="roundRect">
            <a:avLst>
              <a:gd name="adj" fmla="val 3636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4884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0–100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51560" y="3566160"/>
            <a:ext cx="20116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74904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component is normalized to [0,1] via a train-fitted ECDF mapping; sensor aggregation uses learned informativeness weights.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794760" y="1463040"/>
            <a:ext cx="78181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164592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023360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17720" y="1536192"/>
            <a:ext cx="1417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126480" y="1536192"/>
            <a:ext cx="5349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z-score in the sensor's learned degradation direction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794760" y="2322576"/>
            <a:ext cx="78181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23360" y="250545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4023360" y="25054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17720" y="2395728"/>
            <a:ext cx="1417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126480" y="2395728"/>
            <a:ext cx="5349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slope over the window, normalized by baseline sigma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794760" y="3182112"/>
            <a:ext cx="78181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23360" y="336499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4023360" y="3364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17720" y="3255264"/>
            <a:ext cx="1417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EWMA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126480" y="3255264"/>
            <a:ext cx="5349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Exponentially weighted deviation from baseline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794760" y="4041648"/>
            <a:ext cx="78181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23360" y="422452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4023360" y="42245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17720" y="4114800"/>
            <a:ext cx="1417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Variance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126480" y="4114800"/>
            <a:ext cx="5349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variance ratio vs. baseline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794760" y="4901184"/>
            <a:ext cx="78181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23360" y="5084064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4023360" y="50840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17720" y="4974336"/>
            <a:ext cx="1417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shift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126480" y="4974336"/>
            <a:ext cx="5349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Correlation-structure change (Frobenius norm)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STAT-TWIN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States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states with hysteresis — persistence of p cycles is required before a state change is confirmed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008022" cy="2834640"/>
          </a:xfrm>
          <a:prstGeom prst="roundRect">
            <a:avLst>
              <a:gd name="adj" fmla="val 4554"/>
            </a:avLst>
          </a:prstGeom>
          <a:solidFill>
            <a:srgbClr val="111827"/>
          </a:solidFill>
          <a:ln w="19050">
            <a:solidFill>
              <a:srgbClr val="3FB6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2611" y="2240280"/>
            <a:ext cx="640080" cy="640080"/>
          </a:xfrm>
          <a:prstGeom prst="ellipse">
            <a:avLst/>
          </a:prstGeom>
          <a:solidFill>
            <a:srgbClr val="3FB68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108960"/>
            <a:ext cx="182514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794760"/>
            <a:ext cx="164226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D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operation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812694" y="1920240"/>
            <a:ext cx="2008022" cy="2834640"/>
          </a:xfrm>
          <a:prstGeom prst="roundRect">
            <a:avLst>
              <a:gd name="adj" fmla="val 4554"/>
            </a:avLst>
          </a:prstGeom>
          <a:solidFill>
            <a:srgbClr val="111827"/>
          </a:solidFill>
          <a:ln w="19050">
            <a:solidFill>
              <a:srgbClr val="F2C9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96666" y="2240280"/>
            <a:ext cx="640080" cy="640080"/>
          </a:xfrm>
          <a:prstGeom prst="ellipse">
            <a:avLst/>
          </a:prstGeom>
          <a:solidFill>
            <a:srgbClr val="F2C94C"/>
          </a:solidFill>
          <a:ln/>
        </p:spPr>
      </p:sp>
      <p:sp>
        <p:nvSpPr>
          <p:cNvPr id="10" name="Text 8"/>
          <p:cNvSpPr/>
          <p:nvPr/>
        </p:nvSpPr>
        <p:spPr>
          <a:xfrm>
            <a:off x="2904134" y="3108960"/>
            <a:ext cx="182514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95574" y="3794760"/>
            <a:ext cx="164226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D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signs of deviation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76749" y="1920240"/>
            <a:ext cx="2008022" cy="2834640"/>
          </a:xfrm>
          <a:prstGeom prst="roundRect">
            <a:avLst>
              <a:gd name="adj" fmla="val 4554"/>
            </a:avLst>
          </a:prstGeom>
          <a:solidFill>
            <a:srgbClr val="111827"/>
          </a:solidFill>
          <a:ln w="19050">
            <a:solidFill>
              <a:srgbClr val="F299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60720" y="2240280"/>
            <a:ext cx="640080" cy="64008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4" name="Text 12"/>
          <p:cNvSpPr/>
          <p:nvPr/>
        </p:nvSpPr>
        <p:spPr>
          <a:xfrm>
            <a:off x="5168189" y="3108960"/>
            <a:ext cx="182514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DEGRADING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59629" y="3794760"/>
            <a:ext cx="164226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D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degradation trend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40803" y="1920240"/>
            <a:ext cx="2008022" cy="2834640"/>
          </a:xfrm>
          <a:prstGeom prst="roundRect">
            <a:avLst>
              <a:gd name="adj" fmla="val 4554"/>
            </a:avLst>
          </a:prstGeom>
          <a:solidFill>
            <a:srgbClr val="111827"/>
          </a:solidFill>
          <a:ln w="19050">
            <a:solidFill>
              <a:srgbClr val="E85D5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24774" y="2240280"/>
            <a:ext cx="640080" cy="640080"/>
          </a:xfrm>
          <a:prstGeom prst="ellipse">
            <a:avLst/>
          </a:prstGeom>
          <a:solidFill>
            <a:srgbClr val="E85D5D"/>
          </a:solidFill>
          <a:ln/>
        </p:spPr>
      </p:sp>
      <p:sp>
        <p:nvSpPr>
          <p:cNvPr id="18" name="Text 16"/>
          <p:cNvSpPr/>
          <p:nvPr/>
        </p:nvSpPr>
        <p:spPr>
          <a:xfrm>
            <a:off x="7432243" y="3108960"/>
            <a:ext cx="182514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23683" y="3794760"/>
            <a:ext cx="164226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D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failure probability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604858" y="1920240"/>
            <a:ext cx="2008022" cy="2834640"/>
          </a:xfrm>
          <a:prstGeom prst="roundRect">
            <a:avLst>
              <a:gd name="adj" fmla="val 4554"/>
            </a:avLst>
          </a:prstGeom>
          <a:solidFill>
            <a:srgbClr val="111827"/>
          </a:solidFill>
          <a:ln w="19050">
            <a:solidFill>
              <a:srgbClr val="B026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288829" y="2240280"/>
            <a:ext cx="640080" cy="640080"/>
          </a:xfrm>
          <a:prstGeom prst="ellipse">
            <a:avLst/>
          </a:prstGeom>
          <a:solidFill>
            <a:srgbClr val="B0263A"/>
          </a:solidFill>
          <a:ln/>
        </p:spPr>
      </p:sp>
      <p:sp>
        <p:nvSpPr>
          <p:cNvPr id="22" name="Text 20"/>
          <p:cNvSpPr/>
          <p:nvPr/>
        </p:nvSpPr>
        <p:spPr>
          <a:xfrm>
            <a:off x="9696298" y="3108960"/>
            <a:ext cx="182514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FAILURE-LIKELY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787738" y="3794760"/>
            <a:ext cx="164226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D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Imminent failure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11064240" cy="0"/>
          </a:xfrm>
          <a:prstGeom prst="line">
            <a:avLst/>
          </a:prstGeom>
          <a:noFill/>
          <a:ln w="12700">
            <a:solidFill>
              <a:srgbClr val="2630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Hysteresis prevents state "flicker" from noisy single-cycle readings — a change must persist before it's confirmed, keeping the warning timeline trustworthy.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STAT-TWIN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&amp; Uncertainty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1064240" cy="0"/>
          </a:xfrm>
          <a:prstGeom prst="line">
            <a:avLst/>
          </a:prstGeom>
          <a:noFill/>
          <a:ln w="12700">
            <a:solidFill>
              <a:srgbClr val="E2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MODEL BASELINES — ONE SHARED INTERFACE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536192" cy="77724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463040"/>
            <a:ext cx="142646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Threshold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03704" y="1463040"/>
            <a:ext cx="1536192" cy="77724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2258568" y="1463040"/>
            <a:ext cx="142646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Mahalanobis Anomaly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858768" y="1463040"/>
            <a:ext cx="1536192" cy="77724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3913632" y="1463040"/>
            <a:ext cx="142646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513832" y="1463040"/>
            <a:ext cx="1536192" cy="77724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568696" y="1463040"/>
            <a:ext cx="142646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168896" y="1463040"/>
            <a:ext cx="1536192" cy="77724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7223760" y="1463040"/>
            <a:ext cx="142646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823960" y="1463040"/>
            <a:ext cx="1536192" cy="77724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878824" y="1463040"/>
            <a:ext cx="142646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479024" y="1463040"/>
            <a:ext cx="1536192" cy="777240"/>
          </a:xfrm>
          <a:prstGeom prst="roundRect">
            <a:avLst>
              <a:gd name="adj" fmla="val 9412"/>
            </a:avLst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10533888" y="1463040"/>
            <a:ext cx="142646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STAT-TWIN Hybrid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24231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fit(X, y, groups) → self   •   predict_proba(X) → P(fail within h)   •   predict_rul(X)   •   score_raw(X)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2971800"/>
            <a:ext cx="11064240" cy="0"/>
          </a:xfrm>
          <a:prstGeom prst="line">
            <a:avLst/>
          </a:prstGeom>
          <a:noFill/>
          <a:ln w="12700">
            <a:solidFill>
              <a:srgbClr val="E2E8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154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QUANTIFICATION — SPLIT CONFORMAL PREDICTION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3639312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3493008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Distribution-free finite-sample coverage under exchangeability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94360" y="4206240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059936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Nonconformity score: s = |y − ŷ| / (σ_ens + ε)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94360" y="4773168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4626864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prediction intervals by default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94360" y="5340096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519379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measured by RUL bucket and under distribution shift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STAT-TWIN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Ablation Study (A–E)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statistical features add measurable value? Tested with paired Wilcoxon signed-rank + Holm-Bonferroni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188720" y="1655064"/>
            <a:ext cx="3302813" cy="548640"/>
          </a:xfrm>
          <a:prstGeom prst="roundRect">
            <a:avLst>
              <a:gd name="adj" fmla="val 11667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655064"/>
            <a:ext cx="293705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sensors only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441448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188720" y="2496312"/>
            <a:ext cx="4443070" cy="548640"/>
          </a:xfrm>
          <a:prstGeom prst="roundRect">
            <a:avLst>
              <a:gd name="adj" fmla="val 11667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2496312"/>
            <a:ext cx="407731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+ statistical features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282696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188720" y="3337560"/>
            <a:ext cx="5583326" cy="548640"/>
          </a:xfrm>
          <a:prstGeom prst="roundRect">
            <a:avLst>
              <a:gd name="adj" fmla="val 11667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3337560"/>
            <a:ext cx="52175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+ temporal features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123944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188720" y="4178808"/>
            <a:ext cx="6723583" cy="548640"/>
          </a:xfrm>
          <a:prstGeom prst="roundRect">
            <a:avLst>
              <a:gd name="adj" fmla="val 11667"/>
            </a:avLst>
          </a:prstGeom>
          <a:solidFill>
            <a:srgbClr val="21295C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4178808"/>
            <a:ext cx="635782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+ statistical + temporal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965192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188720" y="5020056"/>
            <a:ext cx="7863840" cy="548640"/>
          </a:xfrm>
          <a:prstGeom prst="roundRect">
            <a:avLst>
              <a:gd name="adj" fmla="val 11667"/>
            </a:avLst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5020056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STAT-TWIN — D + health + uncertainty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281160" y="1600200"/>
            <a:ext cx="2331720" cy="4206240"/>
          </a:xfrm>
          <a:prstGeom prst="roundRect">
            <a:avLst>
              <a:gd name="adj" fmla="val 3922"/>
            </a:avLst>
          </a:prstGeom>
          <a:solidFill>
            <a:srgbClr val="0A0E17"/>
          </a:solidFill>
          <a:ln/>
        </p:spPr>
      </p:sp>
      <p:sp>
        <p:nvSpPr>
          <p:cNvPr id="20" name="Text 18"/>
          <p:cNvSpPr/>
          <p:nvPr/>
        </p:nvSpPr>
        <p:spPr>
          <a:xfrm>
            <a:off x="9509760" y="18288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TESTING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509760" y="242316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Paired Wilcoxon signed-rank test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509760" y="34290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Bootstrap confidence intervals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509760" y="443484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Holm-Bonferroni correction for multiple comparisons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STAT-TWIN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Experiments E0 – E9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1064240" cy="0"/>
          </a:xfrm>
          <a:prstGeom prst="line">
            <a:avLst/>
          </a:prstGeom>
          <a:noFill/>
          <a:ln w="12700">
            <a:solidFill>
              <a:srgbClr val="E2E8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143000"/>
            <a:ext cx="2121408" cy="1965960"/>
          </a:xfrm>
          <a:prstGeom prst="roundRect">
            <a:avLst>
              <a:gd name="adj" fmla="val 3721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5272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1764792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audit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350008"/>
            <a:ext cx="18470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2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data as expected?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98064" y="1143000"/>
            <a:ext cx="2121408" cy="1965960"/>
          </a:xfrm>
          <a:prstGeom prst="roundRect">
            <a:avLst>
              <a:gd name="adj" fmla="val 3721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2935224" y="125272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935224" y="1764792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Health-index validation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35224" y="2350008"/>
            <a:ext cx="18470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2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SHI a good indicator?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47488" y="1143000"/>
            <a:ext cx="2121408" cy="1965960"/>
          </a:xfrm>
          <a:prstGeom prst="roundRect">
            <a:avLst>
              <a:gd name="adj" fmla="val 3721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5184648" y="125272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184648" y="1764792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84648" y="2350008"/>
            <a:ext cx="18470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2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the 7 models compare?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296912" y="1143000"/>
            <a:ext cx="2121408" cy="1965960"/>
          </a:xfrm>
          <a:prstGeom prst="roundRect">
            <a:avLst>
              <a:gd name="adj" fmla="val 3721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7434072" y="125272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434072" y="1764792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Early-warning benchmark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34072" y="2350008"/>
            <a:ext cx="18470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2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warns earlier, same false-alarm budget?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546336" y="1143000"/>
            <a:ext cx="2121408" cy="1965960"/>
          </a:xfrm>
          <a:prstGeom prst="roundRect">
            <a:avLst>
              <a:gd name="adj" fmla="val 3721"/>
            </a:avLst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9683496" y="125272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683496" y="1764792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+ significance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83496" y="2350008"/>
            <a:ext cx="18470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2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statistical features add value?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3273552"/>
            <a:ext cx="2121408" cy="1965960"/>
          </a:xfrm>
          <a:prstGeom prst="roundRect">
            <a:avLst>
              <a:gd name="adj" fmla="val 3721"/>
            </a:avLst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33832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85800" y="3895344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&amp; calibration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" y="4480560"/>
            <a:ext cx="18470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2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probabilities &amp; intervals trustworthy?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98064" y="3273552"/>
            <a:ext cx="2121408" cy="1965960"/>
          </a:xfrm>
          <a:prstGeom prst="roundRect">
            <a:avLst>
              <a:gd name="adj" fmla="val 3721"/>
            </a:avLst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2935224" y="33832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E6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935224" y="3895344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matrix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935224" y="4480560"/>
            <a:ext cx="18470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2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performance change across datasets?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47488" y="3273552"/>
            <a:ext cx="2121408" cy="1965960"/>
          </a:xfrm>
          <a:prstGeom prst="roundRect">
            <a:avLst>
              <a:gd name="adj" fmla="val 3721"/>
            </a:avLst>
          </a:prstGeom>
          <a:solidFill>
            <a:srgbClr val="1C7293"/>
          </a:solidFill>
          <a:ln/>
        </p:spPr>
      </p:sp>
      <p:sp>
        <p:nvSpPr>
          <p:cNvPr id="33" name="Text 31"/>
          <p:cNvSpPr/>
          <p:nvPr/>
        </p:nvSpPr>
        <p:spPr>
          <a:xfrm>
            <a:off x="5184648" y="33832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E7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184648" y="3895344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Operating-condition study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84648" y="4480560"/>
            <a:ext cx="18470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2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regime normalization matter?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296912" y="3273552"/>
            <a:ext cx="2121408" cy="1965960"/>
          </a:xfrm>
          <a:prstGeom prst="roundRect">
            <a:avLst>
              <a:gd name="adj" fmla="val 3721"/>
            </a:avLst>
          </a:prstGeom>
          <a:solidFill>
            <a:srgbClr val="1C7293"/>
          </a:solidFill>
          <a:ln/>
        </p:spPr>
      </p:sp>
      <p:sp>
        <p:nvSpPr>
          <p:cNvPr id="37" name="Text 35"/>
          <p:cNvSpPr/>
          <p:nvPr/>
        </p:nvSpPr>
        <p:spPr>
          <a:xfrm>
            <a:off x="7434072" y="33832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E8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7434072" y="3895344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Fault-injection benchmark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434072" y="4480560"/>
            <a:ext cx="18470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2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faults vs. real degradation?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546336" y="3273552"/>
            <a:ext cx="2121408" cy="1965960"/>
          </a:xfrm>
          <a:prstGeom prst="roundRect">
            <a:avLst>
              <a:gd name="adj" fmla="val 3721"/>
            </a:avLst>
          </a:prstGeom>
          <a:solidFill>
            <a:srgbClr val="1C7293"/>
          </a:solidFill>
          <a:ln/>
        </p:spPr>
      </p:sp>
      <p:sp>
        <p:nvSpPr>
          <p:cNvPr id="41" name="Text 39"/>
          <p:cNvSpPr/>
          <p:nvPr/>
        </p:nvSpPr>
        <p:spPr>
          <a:xfrm>
            <a:off x="9683496" y="33832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E9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9683496" y="3895344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method comparison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683496" y="4480560"/>
            <a:ext cx="18470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2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uncertainty method is best?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STAT-TWIN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Dashboard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7-page Streamlit app · dark industrial theme · live 2s auto-refresh · provenance badges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724912" cy="1572768"/>
          </a:xfrm>
          <a:prstGeom prst="roundRect">
            <a:avLst>
              <a:gd name="adj" fmla="val 5233"/>
            </a:avLst>
          </a:prstGeom>
          <a:solidFill>
            <a:srgbClr val="111827"/>
          </a:solidFill>
          <a:ln w="12700">
            <a:solidFill>
              <a:srgbClr val="26304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700784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7007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673352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13232" y="2176272"/>
            <a:ext cx="23957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D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 gauge, risk timeline, DQ status, live replay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19856" y="1554480"/>
            <a:ext cx="2724912" cy="1572768"/>
          </a:xfrm>
          <a:prstGeom prst="roundRect">
            <a:avLst>
              <a:gd name="adj" fmla="val 5233"/>
            </a:avLst>
          </a:prstGeom>
          <a:solidFill>
            <a:srgbClr val="111827"/>
          </a:solidFill>
          <a:ln w="12700">
            <a:solidFill>
              <a:srgbClr val="26304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84448" y="1700784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3584448" y="17007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986784" y="1673352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 Monitoring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584448" y="2176272"/>
            <a:ext cx="23957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D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+ rolling + EWMA + Z-score, DQ flags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91072" y="1554480"/>
            <a:ext cx="2724912" cy="1572768"/>
          </a:xfrm>
          <a:prstGeom prst="roundRect">
            <a:avLst>
              <a:gd name="adj" fmla="val 5233"/>
            </a:avLst>
          </a:prstGeom>
          <a:solidFill>
            <a:srgbClr val="111827"/>
          </a:solidFill>
          <a:ln w="12700">
            <a:solidFill>
              <a:srgbClr val="26304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55664" y="1700784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455664" y="17007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0" y="1673352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Health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55664" y="2176272"/>
            <a:ext cx="23957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D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 trajectory, Z-heatmap, correlation matrix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162288" y="1554480"/>
            <a:ext cx="2724912" cy="1572768"/>
          </a:xfrm>
          <a:prstGeom prst="roundRect">
            <a:avLst>
              <a:gd name="adj" fmla="val 5233"/>
            </a:avLst>
          </a:prstGeom>
          <a:solidFill>
            <a:srgbClr val="111827"/>
          </a:solidFill>
          <a:ln w="12700">
            <a:solidFill>
              <a:srgbClr val="26304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0" y="1700784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9326880" y="17007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729216" y="1673352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 Forecast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326880" y="2176272"/>
            <a:ext cx="23957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D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Multi-horizon probability curve, RUL interval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3310128"/>
            <a:ext cx="2724912" cy="1572768"/>
          </a:xfrm>
          <a:prstGeom prst="roundRect">
            <a:avLst>
              <a:gd name="adj" fmla="val 5233"/>
            </a:avLst>
          </a:prstGeom>
          <a:solidFill>
            <a:srgbClr val="111827"/>
          </a:solidFill>
          <a:ln w="12700">
            <a:solidFill>
              <a:srgbClr val="26304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3456432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34564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15568" y="3429000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13232" y="3931920"/>
            <a:ext cx="23957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D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cards, sensor contributions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419856" y="3310128"/>
            <a:ext cx="2724912" cy="1572768"/>
          </a:xfrm>
          <a:prstGeom prst="roundRect">
            <a:avLst>
              <a:gd name="adj" fmla="val 5233"/>
            </a:avLst>
          </a:prstGeom>
          <a:solidFill>
            <a:srgbClr val="111827"/>
          </a:solidFill>
          <a:ln w="12700">
            <a:solidFill>
              <a:srgbClr val="26304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84448" y="3456432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3584448" y="34564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986784" y="3429000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What-If Simulator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584448" y="3931920"/>
            <a:ext cx="23957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D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sliders, original vs. simulated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91072" y="3310128"/>
            <a:ext cx="2724912" cy="1572768"/>
          </a:xfrm>
          <a:prstGeom prst="roundRect">
            <a:avLst>
              <a:gd name="adj" fmla="val 5233"/>
            </a:avLst>
          </a:prstGeom>
          <a:solidFill>
            <a:srgbClr val="111827"/>
          </a:solidFill>
          <a:ln w="12700">
            <a:solidFill>
              <a:srgbClr val="26304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55664" y="3456432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6" name="Text 34"/>
          <p:cNvSpPr/>
          <p:nvPr/>
        </p:nvSpPr>
        <p:spPr>
          <a:xfrm>
            <a:off x="6455664" y="34564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58000" y="3429000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455664" y="3931920"/>
            <a:ext cx="23957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D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ablation forest plot, calibration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48640" y="58064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PROVENANCE: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103120" y="5861304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1" name="Text 39"/>
          <p:cNvSpPr/>
          <p:nvPr/>
        </p:nvSpPr>
        <p:spPr>
          <a:xfrm>
            <a:off x="2304288" y="5806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840480" y="5861304"/>
            <a:ext cx="146304" cy="14630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3" name="Text 41"/>
          <p:cNvSpPr/>
          <p:nvPr/>
        </p:nvSpPr>
        <p:spPr>
          <a:xfrm>
            <a:off x="4041648" y="5806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577840" y="5861304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5" name="Text 43"/>
          <p:cNvSpPr/>
          <p:nvPr/>
        </p:nvSpPr>
        <p:spPr>
          <a:xfrm>
            <a:off x="5779008" y="5806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STAT-TWIN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the Leakage Guard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869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suite that proves — not just claims — there is no data leakage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93592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563624"/>
            <a:ext cx="146304" cy="146304"/>
          </a:xfrm>
          <a:prstGeom prst="ellipse">
            <a:avLst/>
          </a:prstGeom>
          <a:solidFill>
            <a:srgbClr val="3FB68B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" y="1499616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test_unit_disjoint_splits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892808"/>
            <a:ext cx="32278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unit_id in multiple splits within a fold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79392" y="1417320"/>
            <a:ext cx="3593592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43984" y="1563624"/>
            <a:ext cx="146304" cy="146304"/>
          </a:xfrm>
          <a:prstGeom prst="ellipse">
            <a:avLst/>
          </a:prstGeom>
          <a:solidFill>
            <a:srgbClr val="3FB68B"/>
          </a:solidFill>
          <a:ln/>
        </p:spPr>
      </p:sp>
      <p:sp>
        <p:nvSpPr>
          <p:cNvPr id="10" name="Text 8"/>
          <p:cNvSpPr/>
          <p:nvPr/>
        </p:nvSpPr>
        <p:spPr>
          <a:xfrm>
            <a:off x="4681728" y="1499616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test_fit_only_on_train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62272" y="1892808"/>
            <a:ext cx="32278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Preprocessors fit on training portions only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10144" y="1417320"/>
            <a:ext cx="3593592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74736" y="1563624"/>
            <a:ext cx="146304" cy="146304"/>
          </a:xfrm>
          <a:prstGeom prst="ellipse">
            <a:avLst/>
          </a:prstGeom>
          <a:solidFill>
            <a:srgbClr val="3FB68B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1499616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test_feature_causality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193024" y="1892808"/>
            <a:ext cx="32278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at time t use cycles ≤ t only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761488"/>
            <a:ext cx="3593592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2907792"/>
            <a:ext cx="146304" cy="146304"/>
          </a:xfrm>
          <a:prstGeom prst="ellipse">
            <a:avLst/>
          </a:prstGeom>
          <a:solidFill>
            <a:srgbClr val="3FB68B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" y="2843784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test_no_label_in_features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3236976"/>
            <a:ext cx="32278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feature derived from RUL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79392" y="2761488"/>
            <a:ext cx="3593592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43984" y="2907792"/>
            <a:ext cx="146304" cy="146304"/>
          </a:xfrm>
          <a:prstGeom prst="ellipse">
            <a:avLst/>
          </a:prstGeom>
          <a:solidFill>
            <a:srgbClr val="3FB68B"/>
          </a:solidFill>
          <a:ln/>
        </p:spPr>
      </p:sp>
      <p:sp>
        <p:nvSpPr>
          <p:cNvPr id="22" name="Text 20"/>
          <p:cNvSpPr/>
          <p:nvPr/>
        </p:nvSpPr>
        <p:spPr>
          <a:xfrm>
            <a:off x="4681728" y="2843784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test_shuffled_label_sanity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62272" y="3236976"/>
            <a:ext cx="32278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Shuffled labels yield AUC ≈ 0.5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010144" y="2761488"/>
            <a:ext cx="3593592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74736" y="2907792"/>
            <a:ext cx="146304" cy="146304"/>
          </a:xfrm>
          <a:prstGeom prst="ellipse">
            <a:avLst/>
          </a:prstGeom>
          <a:solidFill>
            <a:srgbClr val="3FB68B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0" y="2843784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test_baseline_uses_past_only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193024" y="3236976"/>
            <a:ext cx="32278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baseline uses only first K cycles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105656"/>
            <a:ext cx="3593592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3232" y="4251960"/>
            <a:ext cx="146304" cy="146304"/>
          </a:xfrm>
          <a:prstGeom prst="ellipse">
            <a:avLst/>
          </a:prstGeom>
          <a:solidFill>
            <a:srgbClr val="3FB68B"/>
          </a:solidFill>
          <a:ln/>
        </p:spPr>
      </p:sp>
      <p:sp>
        <p:nvSpPr>
          <p:cNvPr id="30" name="Text 28"/>
          <p:cNvSpPr/>
          <p:nvPr/>
        </p:nvSpPr>
        <p:spPr>
          <a:xfrm>
            <a:off x="950976" y="4187952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test_calibration_disjoint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1520" y="4581144"/>
            <a:ext cx="32278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data disjoint from test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279392" y="4105656"/>
            <a:ext cx="3593592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43984" y="4251960"/>
            <a:ext cx="146304" cy="146304"/>
          </a:xfrm>
          <a:prstGeom prst="ellipse">
            <a:avLst/>
          </a:prstGeom>
          <a:solidFill>
            <a:srgbClr val="3FB68B"/>
          </a:solidFill>
          <a:ln/>
        </p:spPr>
      </p:sp>
      <p:sp>
        <p:nvSpPr>
          <p:cNvPr id="34" name="Text 32"/>
          <p:cNvSpPr/>
          <p:nvPr/>
        </p:nvSpPr>
        <p:spPr>
          <a:xfrm>
            <a:off x="4681728" y="4187952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test_determinism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462272" y="4581144"/>
            <a:ext cx="32278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seed → identical results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010144" y="4105656"/>
            <a:ext cx="3593592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74736" y="4251960"/>
            <a:ext cx="146304" cy="146304"/>
          </a:xfrm>
          <a:prstGeom prst="ellipse">
            <a:avLst/>
          </a:prstGeom>
          <a:solidFill>
            <a:srgbClr val="3FB68B"/>
          </a:solidFill>
          <a:ln/>
        </p:spPr>
      </p:sp>
      <p:sp>
        <p:nvSpPr>
          <p:cNvPr id="38" name="Text 36"/>
          <p:cNvSpPr/>
          <p:nvPr/>
        </p:nvSpPr>
        <p:spPr>
          <a:xfrm>
            <a:off x="8412480" y="4187952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test_threshold_selected_on_val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193024" y="4581144"/>
            <a:ext cx="32278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thresholds never fitted on test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STAT-TWIN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Reproducibility &amp; Limitations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1064240" cy="0"/>
          </a:xfrm>
          <a:prstGeom prst="line">
            <a:avLst/>
          </a:prstGeom>
          <a:noFill/>
          <a:ln w="12700">
            <a:solidFill>
              <a:srgbClr val="E2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WRITES A MANIFEST.JSON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Git commit hash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Config hash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Random seeds (Python, NumPy, PyTorch, XGBoost)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Package versions &amp; platform info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PROFILES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822960" cy="310896"/>
          </a:xfrm>
          <a:prstGeom prst="rect">
            <a:avLst/>
          </a:prstGeom>
          <a:solidFill>
            <a:srgbClr val="21295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2900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371600" y="3429000"/>
            <a:ext cx="1371600" cy="310896"/>
          </a:xfrm>
          <a:prstGeom prst="rect">
            <a:avLst/>
          </a:prstGeom>
          <a:solidFill>
            <a:srgbClr val="21295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342900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0" y="3429000"/>
            <a:ext cx="731520" cy="310896"/>
          </a:xfrm>
          <a:prstGeom prst="rect">
            <a:avLst/>
          </a:prstGeom>
          <a:solidFill>
            <a:srgbClr val="21295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3429000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74720" y="3429000"/>
            <a:ext cx="731520" cy="310896"/>
          </a:xfrm>
          <a:prstGeom prst="rect">
            <a:avLst/>
          </a:prstGeom>
          <a:solidFill>
            <a:srgbClr val="21295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3429000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206240" y="3429000"/>
            <a:ext cx="1737360" cy="310896"/>
          </a:xfrm>
          <a:prstGeom prst="rect">
            <a:avLst/>
          </a:prstGeom>
          <a:solidFill>
            <a:srgbClr val="21295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0" y="342900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3739896"/>
            <a:ext cx="8229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739896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5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smoke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371600" y="3739896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0" y="373989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0" y="3739896"/>
            <a:ext cx="7315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0" y="3739896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474720" y="3739896"/>
            <a:ext cx="7315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3739896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206240" y="3739896"/>
            <a:ext cx="1737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0" y="3739896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and unit tests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4050792"/>
            <a:ext cx="822960" cy="310896"/>
          </a:xfrm>
          <a:prstGeom prst="rect">
            <a:avLst/>
          </a:prstGeom>
          <a:solidFill>
            <a:srgbClr val="EDF1F4"/>
          </a:solidFill>
          <a:ln w="6350">
            <a:solidFill>
              <a:srgbClr val="E2E8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050792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5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371600" y="4050792"/>
            <a:ext cx="1371600" cy="310896"/>
          </a:xfrm>
          <a:prstGeom prst="rect">
            <a:avLst/>
          </a:prstGeom>
          <a:solidFill>
            <a:srgbClr val="EDF1F4"/>
          </a:solidFill>
          <a:ln w="6350">
            <a:solidFill>
              <a:srgbClr val="E2E8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71600" y="405079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FD001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0" y="4050792"/>
            <a:ext cx="731520" cy="310896"/>
          </a:xfrm>
          <a:prstGeom prst="rect">
            <a:avLst/>
          </a:prstGeom>
          <a:solidFill>
            <a:srgbClr val="EDF1F4"/>
          </a:solidFill>
          <a:ln w="6350">
            <a:solidFill>
              <a:srgbClr val="E2E8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0" y="4050792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474720" y="4050792"/>
            <a:ext cx="731520" cy="310896"/>
          </a:xfrm>
          <a:prstGeom prst="rect">
            <a:avLst/>
          </a:prstGeom>
          <a:solidFill>
            <a:srgbClr val="EDF1F4"/>
          </a:solidFill>
          <a:ln w="6350">
            <a:solidFill>
              <a:srgbClr val="E2E8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0" y="4050792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206240" y="4050792"/>
            <a:ext cx="1737360" cy="310896"/>
          </a:xfrm>
          <a:prstGeom prst="rect">
            <a:avLst/>
          </a:prstGeom>
          <a:solidFill>
            <a:srgbClr val="EDF1F4"/>
          </a:solidFill>
          <a:ln w="6350">
            <a:solidFill>
              <a:srgbClr val="E2E8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06240" y="4050792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48640" y="4361688"/>
            <a:ext cx="8229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4361688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5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371600" y="4361688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0" y="436168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FD001–FD004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0" y="4361688"/>
            <a:ext cx="7315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0" y="436168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474720" y="4361688"/>
            <a:ext cx="7315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74720" y="436168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206240" y="4361688"/>
            <a:ext cx="1737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06240" y="4361688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263640" y="1097280"/>
            <a:ext cx="5349240" cy="4937760"/>
          </a:xfrm>
          <a:prstGeom prst="roundRect">
            <a:avLst>
              <a:gd name="adj" fmla="val 1852"/>
            </a:avLst>
          </a:prstGeom>
          <a:solidFill>
            <a:srgbClr val="0A0E17"/>
          </a:solidFill>
          <a:ln/>
        </p:spPr>
      </p:sp>
      <p:sp>
        <p:nvSpPr>
          <p:cNvPr id="51" name="Text 49"/>
          <p:cNvSpPr/>
          <p:nvPr/>
        </p:nvSpPr>
        <p:spPr>
          <a:xfrm>
            <a:off x="6537960" y="13258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OPENLY STATED LIMITATIONS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583680" y="1792224"/>
            <a:ext cx="100584" cy="10058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53" name="Text 51"/>
          <p:cNvSpPr/>
          <p:nvPr/>
        </p:nvSpPr>
        <p:spPr>
          <a:xfrm>
            <a:off x="6812280" y="164592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C-MAPSS is a simulated dataset with few fault modes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583680" y="2450592"/>
            <a:ext cx="100584" cy="10058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55" name="Text 53"/>
          <p:cNvSpPr/>
          <p:nvPr/>
        </p:nvSpPr>
        <p:spPr>
          <a:xfrm>
            <a:off x="6812280" y="2304288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Conformal guarantees are marginal and assume exchangeability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583680" y="3108960"/>
            <a:ext cx="100584" cy="10058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57" name="Text 55"/>
          <p:cNvSpPr/>
          <p:nvPr/>
        </p:nvSpPr>
        <p:spPr>
          <a:xfrm>
            <a:off x="6812280" y="2962656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thresholds are conventions unless calibrated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583680" y="3767328"/>
            <a:ext cx="100584" cy="10058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59" name="Text 57"/>
          <p:cNvSpPr/>
          <p:nvPr/>
        </p:nvSpPr>
        <p:spPr>
          <a:xfrm>
            <a:off x="6812280" y="3621024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simulator shows model sensitivity, not causal intervention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583680" y="4425696"/>
            <a:ext cx="100584" cy="10058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1" name="Text 59"/>
          <p:cNvSpPr/>
          <p:nvPr/>
        </p:nvSpPr>
        <p:spPr>
          <a:xfrm>
            <a:off x="6812280" y="4279392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gains may be dataset-specific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583680" y="5084064"/>
            <a:ext cx="100584" cy="10058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3" name="Text 61"/>
          <p:cNvSpPr/>
          <p:nvPr/>
        </p:nvSpPr>
        <p:spPr>
          <a:xfrm>
            <a:off x="6812280" y="493776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depend on RUL clipping and horizon choices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STAT-TWIN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30088" y="109728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730088" y="1097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205740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STAT-TWIN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0" y="288036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evidence. Calibrated confidence. Explainable predictions.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24248" y="3520440"/>
            <a:ext cx="27432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38404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EBD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the NASA C-MAPSS turbofan degradation dataset (Saxena et al., 2008)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42976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Conformal / distribution-free inference: Vovk et al., Lei et al. (2018)  ·  Health-indicator quality metrics: Coble (2010)  ·  SHAP: Lundberg &amp; Lee (2017)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0" y="60350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under MIT  ·  github.com/your-username/STAT-TWIN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2026-09-23T04:09:05Z</dcterms:created>
  <dcterms:modified xsi:type="dcterms:W3CDTF">2026-09-23T04:09:05Z</dcterms:modified>
</cp:coreProperties>
</file>